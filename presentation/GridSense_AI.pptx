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033" autoAdjust="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56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E8DFF5"/>
          </a:solidFill>
          <a:ln/>
        </p:spPr>
      </p:sp>
      <p:sp>
        <p:nvSpPr>
          <p:cNvPr id="3" name="Text 1"/>
          <p:cNvSpPr/>
          <p:nvPr/>
        </p:nvSpPr>
        <p:spPr>
          <a:xfrm>
            <a:off x="3474720" y="1097280"/>
            <a:ext cx="5029200" cy="822960"/>
          </a:xfrm>
          <a:prstGeom prst="rect">
            <a:avLst/>
          </a:prstGeom>
          <a:noFill/>
          <a:ln/>
        </p:spPr>
        <p:txBody>
          <a:bodyPr wrap="square" rtlCol="0" anchor="ctr"/>
          <a:lstStyle/>
          <a:p>
            <a:pPr marL="0" indent="0" algn="l">
              <a:buNone/>
            </a:pPr>
            <a:r>
              <a:rPr lang="en-US" sz="5400" b="1" dirty="0">
                <a:solidFill>
                  <a:srgbClr val="2D1B4E"/>
                </a:solidFill>
                <a:latin typeface="Calibri" pitchFamily="34" charset="0"/>
                <a:ea typeface="Calibri" pitchFamily="34" charset="-122"/>
                <a:cs typeface="Calibri" pitchFamily="34" charset="-120"/>
              </a:rPr>
              <a:t>GridSense AI</a:t>
            </a:r>
            <a:endParaRPr lang="en-US" sz="5400" dirty="0"/>
          </a:p>
        </p:txBody>
      </p:sp>
      <p:sp>
        <p:nvSpPr>
          <p:cNvPr id="4" name="Text 2"/>
          <p:cNvSpPr/>
          <p:nvPr/>
        </p:nvSpPr>
        <p:spPr>
          <a:xfrm>
            <a:off x="3474720" y="1920240"/>
            <a:ext cx="5029200" cy="548640"/>
          </a:xfrm>
          <a:prstGeom prst="rect">
            <a:avLst/>
          </a:prstGeom>
          <a:noFill/>
          <a:ln/>
        </p:spPr>
        <p:txBody>
          <a:bodyPr wrap="square" rtlCol="0" anchor="ctr"/>
          <a:lstStyle/>
          <a:p>
            <a:pPr marL="0" indent="0" algn="l">
              <a:buNone/>
            </a:pPr>
            <a:r>
              <a:rPr lang="en-US" sz="1600" dirty="0">
                <a:solidFill>
                  <a:srgbClr val="6B4C9A"/>
                </a:solidFill>
                <a:latin typeface="Calibri" pitchFamily="34" charset="0"/>
                <a:ea typeface="Calibri" pitchFamily="34" charset="-122"/>
                <a:cs typeface="Calibri" pitchFamily="34" charset="-120"/>
              </a:rPr>
              <a:t>Grid Load Optimisation &amp; Renewable Energy Performance Advisor</a:t>
            </a:r>
            <a:endParaRPr lang="en-US" sz="1600" dirty="0"/>
          </a:p>
        </p:txBody>
      </p:sp>
      <p:sp>
        <p:nvSpPr>
          <p:cNvPr id="5" name="Text 3"/>
          <p:cNvSpPr/>
          <p:nvPr/>
        </p:nvSpPr>
        <p:spPr>
          <a:xfrm>
            <a:off x="3474720" y="2651760"/>
            <a:ext cx="2468880" cy="365760"/>
          </a:xfrm>
          <a:prstGeom prst="rect">
            <a:avLst/>
          </a:prstGeom>
          <a:noFill/>
          <a:ln/>
        </p:spPr>
        <p:txBody>
          <a:bodyPr wrap="square" rtlCol="0" anchor="ctr"/>
          <a:lstStyle/>
          <a:p>
            <a:pPr marL="0" indent="0">
              <a:buNone/>
            </a:pPr>
            <a:r>
              <a:rPr lang="en-US" sz="1300" b="1" dirty="0">
                <a:solidFill>
                  <a:srgbClr val="2C2C2C"/>
                </a:solidFill>
                <a:latin typeface="Calibri" pitchFamily="34" charset="0"/>
                <a:ea typeface="Calibri" pitchFamily="34" charset="-122"/>
                <a:cs typeface="Calibri" pitchFamily="34" charset="-120"/>
              </a:rPr>
              <a:t>Track: AI Utilities</a:t>
            </a:r>
            <a:endParaRPr lang="en-US" sz="1300" dirty="0"/>
          </a:p>
        </p:txBody>
      </p:sp>
      <p:sp>
        <p:nvSpPr>
          <p:cNvPr id="6" name="Text 4"/>
          <p:cNvSpPr/>
          <p:nvPr/>
        </p:nvSpPr>
        <p:spPr>
          <a:xfrm>
            <a:off x="3474720" y="3108960"/>
            <a:ext cx="5029200" cy="365760"/>
          </a:xfrm>
          <a:prstGeom prst="rect">
            <a:avLst/>
          </a:prstGeom>
          <a:noFill/>
          <a:ln/>
        </p:spPr>
        <p:txBody>
          <a:bodyPr wrap="square" rtlCol="0" anchor="ctr"/>
          <a:lstStyle/>
          <a:p>
            <a:pPr marL="0" indent="0">
              <a:buNone/>
            </a:pPr>
            <a:r>
              <a:rPr lang="en-US" sz="1300" b="1" dirty="0">
                <a:solidFill>
                  <a:srgbClr val="2C2C2C"/>
                </a:solidFill>
                <a:latin typeface="Calibri" pitchFamily="34" charset="0"/>
                <a:ea typeface="Calibri" pitchFamily="34" charset="-122"/>
                <a:cs typeface="Calibri" pitchFamily="34" charset="-120"/>
              </a:rPr>
              <a:t>Team: Code Catalyst</a:t>
            </a:r>
            <a:endParaRPr lang="en-US" sz="1300" dirty="0"/>
          </a:p>
        </p:txBody>
      </p:sp>
      <p:sp>
        <p:nvSpPr>
          <p:cNvPr id="7" name="Text 5"/>
          <p:cNvSpPr/>
          <p:nvPr/>
        </p:nvSpPr>
        <p:spPr>
          <a:xfrm>
            <a:off x="3474720" y="3566160"/>
            <a:ext cx="5029200" cy="548640"/>
          </a:xfrm>
          <a:prstGeom prst="rect">
            <a:avLst/>
          </a:prstGeom>
          <a:noFill/>
          <a:ln/>
        </p:spPr>
        <p:txBody>
          <a:bodyPr wrap="square" rtlCol="0" anchor="ctr"/>
          <a:lstStyle/>
          <a:p>
            <a:pPr marL="0" indent="0">
              <a:buNone/>
            </a:pPr>
            <a:r>
              <a:rPr lang="en-US" sz="1200" dirty="0">
                <a:solidFill>
                  <a:srgbClr val="666666"/>
                </a:solidFill>
                <a:latin typeface="Calibri" pitchFamily="34" charset="0"/>
                <a:ea typeface="Calibri" pitchFamily="34" charset="-122"/>
                <a:cs typeface="Calibri" pitchFamily="34" charset="-120"/>
              </a:rPr>
              <a:t>Members: Heer Pathak, Manasvee Viroja, Prince Patel, Priyal </a:t>
            </a:r>
            <a:r>
              <a:rPr lang="en-US" sz="1200" dirty="0" err="1">
                <a:solidFill>
                  <a:srgbClr val="666666"/>
                </a:solidFill>
                <a:latin typeface="Calibri" pitchFamily="34" charset="0"/>
                <a:ea typeface="Calibri" pitchFamily="34" charset="-122"/>
                <a:cs typeface="Calibri" pitchFamily="34" charset="-120"/>
              </a:rPr>
              <a:t>Kalariya</a:t>
            </a:r>
            <a:endParaRPr lang="en-US" sz="1200" dirty="0"/>
          </a:p>
        </p:txBody>
      </p:sp>
      <p:pic>
        <p:nvPicPr>
          <p:cNvPr id="13" name="Picture 12">
            <a:extLst>
              <a:ext uri="{FF2B5EF4-FFF2-40B4-BE49-F238E27FC236}">
                <a16:creationId xmlns:a16="http://schemas.microsoft.com/office/drawing/2014/main" id="{B9764368-813B-FEC5-F76B-6E4A8D9A17D0}"/>
              </a:ext>
            </a:extLst>
          </p:cNvPr>
          <p:cNvPicPr>
            <a:picLocks noChangeAspect="1"/>
          </p:cNvPicPr>
          <p:nvPr/>
        </p:nvPicPr>
        <p:blipFill>
          <a:blip r:embed="rId3"/>
          <a:stretch>
            <a:fillRect/>
          </a:stretch>
        </p:blipFill>
        <p:spPr>
          <a:xfrm>
            <a:off x="0" y="-1"/>
            <a:ext cx="3200400" cy="5143499"/>
          </a:xfrm>
          <a:prstGeom prst="rect">
            <a:avLst/>
          </a:prstGeom>
        </p:spPr>
      </p:pic>
      <p:pic>
        <p:nvPicPr>
          <p:cNvPr id="15" name="Picture 14">
            <a:extLst>
              <a:ext uri="{FF2B5EF4-FFF2-40B4-BE49-F238E27FC236}">
                <a16:creationId xmlns:a16="http://schemas.microsoft.com/office/drawing/2014/main" id="{1493F50F-9D5F-227B-915A-B257CE8A1BC1}"/>
              </a:ext>
            </a:extLst>
          </p:cNvPr>
          <p:cNvPicPr>
            <a:picLocks noChangeAspect="1"/>
          </p:cNvPicPr>
          <p:nvPr/>
        </p:nvPicPr>
        <p:blipFill>
          <a:blip r:embed="rId4"/>
          <a:stretch>
            <a:fillRect/>
          </a:stretch>
        </p:blipFill>
        <p:spPr>
          <a:xfrm>
            <a:off x="0" y="-3"/>
            <a:ext cx="32004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E8DFF5"/>
          </a:solidFill>
          <a:ln/>
        </p:spPr>
      </p:sp>
      <p:sp>
        <p:nvSpPr>
          <p:cNvPr id="3" name="Text 1"/>
          <p:cNvSpPr/>
          <p:nvPr/>
        </p:nvSpPr>
        <p:spPr>
          <a:xfrm>
            <a:off x="3474720" y="365760"/>
            <a:ext cx="5029200" cy="548640"/>
          </a:xfrm>
          <a:prstGeom prst="rect">
            <a:avLst/>
          </a:prstGeom>
          <a:noFill/>
          <a:ln/>
        </p:spPr>
        <p:txBody>
          <a:bodyPr wrap="square" rtlCol="0" anchor="ctr"/>
          <a:lstStyle/>
          <a:p>
            <a:pPr marL="0" indent="0" algn="l">
              <a:buNone/>
            </a:pPr>
            <a:r>
              <a:rPr lang="en-US" sz="4400" b="1" dirty="0">
                <a:solidFill>
                  <a:srgbClr val="2D1B4E"/>
                </a:solidFill>
                <a:latin typeface="Calibri" pitchFamily="34" charset="0"/>
                <a:ea typeface="Calibri" pitchFamily="34" charset="-122"/>
                <a:cs typeface="Calibri" pitchFamily="34" charset="-120"/>
              </a:rPr>
              <a:t>The Problem</a:t>
            </a:r>
            <a:endParaRPr lang="en-US" sz="4400" dirty="0"/>
          </a:p>
        </p:txBody>
      </p:sp>
      <p:sp>
        <p:nvSpPr>
          <p:cNvPr id="4" name="Text 2"/>
          <p:cNvSpPr/>
          <p:nvPr/>
        </p:nvSpPr>
        <p:spPr>
          <a:xfrm>
            <a:off x="3474720" y="1290711"/>
            <a:ext cx="5029200" cy="365760"/>
          </a:xfrm>
          <a:prstGeom prst="rect">
            <a:avLst/>
          </a:prstGeom>
          <a:noFill/>
          <a:ln/>
        </p:spPr>
        <p:txBody>
          <a:bodyPr wrap="square" rtlCol="0" anchor="ctr"/>
          <a:lstStyle/>
          <a:p>
            <a:pPr marL="0" indent="0">
              <a:buNone/>
            </a:pPr>
            <a:r>
              <a:rPr lang="en-US" sz="1300" b="1" dirty="0">
                <a:solidFill>
                  <a:srgbClr val="6B4C9A"/>
                </a:solidFill>
                <a:latin typeface="Calibri" pitchFamily="34" charset="0"/>
                <a:ea typeface="Calibri" pitchFamily="34" charset="-122"/>
                <a:cs typeface="Calibri" pitchFamily="34" charset="-120"/>
              </a:rPr>
              <a:t>For: Power Grid Operators &amp; Energy Utilities</a:t>
            </a:r>
            <a:endParaRPr lang="en-US" sz="1300" dirty="0"/>
          </a:p>
        </p:txBody>
      </p:sp>
      <p:sp>
        <p:nvSpPr>
          <p:cNvPr id="5" name="Text 3"/>
          <p:cNvSpPr/>
          <p:nvPr/>
        </p:nvSpPr>
        <p:spPr>
          <a:xfrm>
            <a:off x="3474720" y="1508760"/>
            <a:ext cx="5029200" cy="1188720"/>
          </a:xfrm>
          <a:prstGeom prst="rect">
            <a:avLst/>
          </a:prstGeom>
          <a:noFill/>
          <a:ln/>
        </p:spPr>
        <p:txBody>
          <a:bodyPr wrap="square" rtlCol="0" anchor="ctr"/>
          <a:lstStyle/>
          <a:p>
            <a:pPr marL="0" indent="0" algn="just">
              <a:buNone/>
            </a:pPr>
            <a:r>
              <a:rPr lang="en-US" sz="1200" dirty="0">
                <a:solidFill>
                  <a:srgbClr val="666666"/>
                </a:solidFill>
                <a:latin typeface="Calibri" pitchFamily="34" charset="0"/>
                <a:ea typeface="Calibri" pitchFamily="34" charset="-122"/>
                <a:cs typeface="Calibri" pitchFamily="34" charset="-120"/>
              </a:rPr>
              <a:t>Renewable energy is curtailed (wasted) when the grid cannot absorb it. Meanwhile, unexpected demand spikes cause grid instability. Operators lack integrated decision support to forecast demand, detect failing assets, diagnose root causes, AND optimize dispatch all in real time.</a:t>
            </a:r>
            <a:endParaRPr lang="en-US" sz="1200" dirty="0"/>
          </a:p>
        </p:txBody>
      </p:sp>
      <p:sp>
        <p:nvSpPr>
          <p:cNvPr id="6" name="Text 4"/>
          <p:cNvSpPr/>
          <p:nvPr/>
        </p:nvSpPr>
        <p:spPr>
          <a:xfrm>
            <a:off x="3474720" y="2788920"/>
            <a:ext cx="5029200" cy="274320"/>
          </a:xfrm>
          <a:prstGeom prst="rect">
            <a:avLst/>
          </a:prstGeom>
          <a:noFill/>
          <a:ln/>
        </p:spPr>
        <p:txBody>
          <a:bodyPr wrap="square" rtlCol="0" anchor="ctr"/>
          <a:lstStyle/>
          <a:p>
            <a:pPr marL="0" indent="0">
              <a:buNone/>
            </a:pPr>
            <a:r>
              <a:rPr lang="en-US" sz="1200" b="1" dirty="0">
                <a:solidFill>
                  <a:srgbClr val="6B4C9A"/>
                </a:solidFill>
                <a:latin typeface="Calibri" pitchFamily="34" charset="0"/>
                <a:ea typeface="Calibri" pitchFamily="34" charset="-122"/>
                <a:cs typeface="Calibri" pitchFamily="34" charset="-120"/>
              </a:rPr>
              <a:t>Why It Matters</a:t>
            </a:r>
            <a:endParaRPr lang="en-US" sz="1200" dirty="0"/>
          </a:p>
        </p:txBody>
      </p:sp>
      <p:sp>
        <p:nvSpPr>
          <p:cNvPr id="7" name="Text 5"/>
          <p:cNvSpPr/>
          <p:nvPr/>
        </p:nvSpPr>
        <p:spPr>
          <a:xfrm>
            <a:off x="3474720" y="3108960"/>
            <a:ext cx="5029200" cy="411480"/>
          </a:xfrm>
          <a:prstGeom prst="rect">
            <a:avLst/>
          </a:prstGeom>
          <a:noFill/>
          <a:ln/>
        </p:spPr>
        <p:txBody>
          <a:bodyPr wrap="square" rtlCol="0" anchor="ctr"/>
          <a:lstStyle/>
          <a:p>
            <a:pPr marL="0" indent="0">
              <a:buNone/>
            </a:pPr>
            <a:r>
              <a:rPr lang="en-US" sz="1050" dirty="0">
                <a:solidFill>
                  <a:srgbClr val="2C2C2C"/>
                </a:solidFill>
                <a:latin typeface="Calibri" pitchFamily="34" charset="0"/>
                <a:ea typeface="Calibri" pitchFamily="34" charset="-122"/>
                <a:cs typeface="Calibri" pitchFamily="34" charset="-120"/>
              </a:rPr>
              <a:t>• ~8 TWh of clean energy curtailed in US (2023) = lost renewable value</a:t>
            </a:r>
            <a:endParaRPr lang="en-US" sz="1050" dirty="0"/>
          </a:p>
        </p:txBody>
      </p:sp>
      <p:sp>
        <p:nvSpPr>
          <p:cNvPr id="8" name="Text 6"/>
          <p:cNvSpPr/>
          <p:nvPr/>
        </p:nvSpPr>
        <p:spPr>
          <a:xfrm>
            <a:off x="3474720" y="3566160"/>
            <a:ext cx="5029200" cy="411480"/>
          </a:xfrm>
          <a:prstGeom prst="rect">
            <a:avLst/>
          </a:prstGeom>
          <a:noFill/>
          <a:ln/>
        </p:spPr>
        <p:txBody>
          <a:bodyPr wrap="square" rtlCol="0" anchor="ctr"/>
          <a:lstStyle/>
          <a:p>
            <a:pPr marL="0" indent="0">
              <a:buNone/>
            </a:pPr>
            <a:r>
              <a:rPr lang="en-US" sz="1050" dirty="0">
                <a:solidFill>
                  <a:srgbClr val="2C2C2C"/>
                </a:solidFill>
                <a:latin typeface="Calibri" pitchFamily="34" charset="0"/>
                <a:ea typeface="Calibri" pitchFamily="34" charset="-122"/>
                <a:cs typeface="Calibri" pitchFamily="34" charset="-120"/>
              </a:rPr>
              <a:t>• Demand spikes cause emergency response + grid instability</a:t>
            </a:r>
            <a:endParaRPr lang="en-US" sz="1050" dirty="0"/>
          </a:p>
        </p:txBody>
      </p:sp>
      <p:sp>
        <p:nvSpPr>
          <p:cNvPr id="9" name="Text 7"/>
          <p:cNvSpPr/>
          <p:nvPr/>
        </p:nvSpPr>
        <p:spPr>
          <a:xfrm>
            <a:off x="3474720" y="4023360"/>
            <a:ext cx="5029200" cy="411480"/>
          </a:xfrm>
          <a:prstGeom prst="rect">
            <a:avLst/>
          </a:prstGeom>
          <a:noFill/>
          <a:ln/>
        </p:spPr>
        <p:txBody>
          <a:bodyPr wrap="square" rtlCol="0" anchor="ctr"/>
          <a:lstStyle/>
          <a:p>
            <a:pPr marL="0" indent="0">
              <a:buNone/>
            </a:pPr>
            <a:r>
              <a:rPr lang="en-US" sz="1050" dirty="0">
                <a:solidFill>
                  <a:srgbClr val="2C2C2C"/>
                </a:solidFill>
                <a:latin typeface="Calibri" pitchFamily="34" charset="0"/>
                <a:ea typeface="Calibri" pitchFamily="34" charset="-122"/>
                <a:cs typeface="Calibri" pitchFamily="34" charset="-120"/>
              </a:rPr>
              <a:t>• Underperforming assets go undetected for weeks (silent losses)</a:t>
            </a:r>
            <a:endParaRPr lang="en-US" sz="1050" dirty="0"/>
          </a:p>
        </p:txBody>
      </p:sp>
      <p:sp>
        <p:nvSpPr>
          <p:cNvPr id="10" name="Text 8"/>
          <p:cNvSpPr/>
          <p:nvPr/>
        </p:nvSpPr>
        <p:spPr>
          <a:xfrm>
            <a:off x="3474720" y="4480560"/>
            <a:ext cx="5029200" cy="411480"/>
          </a:xfrm>
          <a:prstGeom prst="rect">
            <a:avLst/>
          </a:prstGeom>
          <a:noFill/>
          <a:ln/>
        </p:spPr>
        <p:txBody>
          <a:bodyPr wrap="square" rtlCol="0" anchor="ctr"/>
          <a:lstStyle/>
          <a:p>
            <a:pPr marL="0" indent="0">
              <a:buNone/>
            </a:pPr>
            <a:r>
              <a:rPr lang="en-US" sz="1050" dirty="0">
                <a:solidFill>
                  <a:srgbClr val="2C2C2C"/>
                </a:solidFill>
                <a:latin typeface="Calibri" pitchFamily="34" charset="0"/>
                <a:ea typeface="Calibri" pitchFamily="34" charset="-122"/>
                <a:cs typeface="Calibri" pitchFamily="34" charset="-120"/>
              </a:rPr>
              <a:t>• Three critical functions live in isolation no integrated brief</a:t>
            </a:r>
            <a:endParaRPr lang="en-US" sz="1050" dirty="0"/>
          </a:p>
        </p:txBody>
      </p:sp>
      <p:pic>
        <p:nvPicPr>
          <p:cNvPr id="12" name="Picture 11">
            <a:extLst>
              <a:ext uri="{FF2B5EF4-FFF2-40B4-BE49-F238E27FC236}">
                <a16:creationId xmlns:a16="http://schemas.microsoft.com/office/drawing/2014/main" id="{12109C49-AF40-C49B-5A94-941928501877}"/>
              </a:ext>
            </a:extLst>
          </p:cNvPr>
          <p:cNvPicPr>
            <a:picLocks noChangeAspect="1"/>
          </p:cNvPicPr>
          <p:nvPr/>
        </p:nvPicPr>
        <p:blipFill>
          <a:blip r:embed="rId3"/>
          <a:stretch>
            <a:fillRect/>
          </a:stretch>
        </p:blipFill>
        <p:spPr>
          <a:xfrm>
            <a:off x="0" y="0"/>
            <a:ext cx="32004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lgn="l">
              <a:buNone/>
            </a:pPr>
            <a:r>
              <a:rPr lang="en-US" sz="4400" b="1" dirty="0">
                <a:solidFill>
                  <a:srgbClr val="2D1B4E"/>
                </a:solidFill>
                <a:latin typeface="Calibri" pitchFamily="34" charset="0"/>
                <a:ea typeface="Calibri" pitchFamily="34" charset="-122"/>
                <a:cs typeface="Calibri" pitchFamily="34" charset="-120"/>
              </a:rPr>
              <a:t>The Solution</a:t>
            </a:r>
            <a:endParaRPr lang="en-US" sz="4400" dirty="0"/>
          </a:p>
        </p:txBody>
      </p:sp>
      <p:sp>
        <p:nvSpPr>
          <p:cNvPr id="3" name="Text 1"/>
          <p:cNvSpPr/>
          <p:nvPr/>
        </p:nvSpPr>
        <p:spPr>
          <a:xfrm>
            <a:off x="457200" y="960120"/>
            <a:ext cx="8229600" cy="457200"/>
          </a:xfrm>
          <a:prstGeom prst="rect">
            <a:avLst/>
          </a:prstGeom>
          <a:noFill/>
          <a:ln/>
        </p:spPr>
        <p:txBody>
          <a:bodyPr wrap="square" rtlCol="0" anchor="ctr"/>
          <a:lstStyle/>
          <a:p>
            <a:pPr marL="0" indent="0">
              <a:buNone/>
            </a:pPr>
            <a:r>
              <a:rPr lang="en-US" sz="1300" i="1" dirty="0">
                <a:solidFill>
                  <a:srgbClr val="666666"/>
                </a:solidFill>
                <a:latin typeface="Calibri" pitchFamily="34" charset="0"/>
                <a:ea typeface="Calibri" pitchFamily="34" charset="-122"/>
                <a:cs typeface="Calibri" pitchFamily="34" charset="-120"/>
              </a:rPr>
              <a:t>GridSense AI: Eight-Agent Agentic System for Integrated Grid Optimization</a:t>
            </a:r>
            <a:endParaRPr lang="en-US" sz="1300" dirty="0"/>
          </a:p>
        </p:txBody>
      </p:sp>
      <p:sp>
        <p:nvSpPr>
          <p:cNvPr id="4" name="Shape 2"/>
          <p:cNvSpPr/>
          <p:nvPr/>
        </p:nvSpPr>
        <p:spPr>
          <a:xfrm>
            <a:off x="457200" y="1554480"/>
            <a:ext cx="1828800" cy="502920"/>
          </a:xfrm>
          <a:prstGeom prst="rect">
            <a:avLst/>
          </a:prstGeom>
          <a:solidFill>
            <a:srgbClr val="E8DFF5"/>
          </a:solidFill>
          <a:ln w="12700">
            <a:solidFill>
              <a:srgbClr val="6B4C9A"/>
            </a:solidFill>
            <a:prstDash val="solid"/>
          </a:ln>
        </p:spPr>
      </p:sp>
      <p:sp>
        <p:nvSpPr>
          <p:cNvPr id="5" name="Text 3"/>
          <p:cNvSpPr/>
          <p:nvPr/>
        </p:nvSpPr>
        <p:spPr>
          <a:xfrm>
            <a:off x="548640" y="1645920"/>
            <a:ext cx="1645920" cy="320040"/>
          </a:xfrm>
          <a:prstGeom prst="rect">
            <a:avLst/>
          </a:prstGeom>
          <a:noFill/>
          <a:ln/>
        </p:spPr>
        <p:txBody>
          <a:bodyPr wrap="square" rtlCol="0" anchor="ctr"/>
          <a:lstStyle/>
          <a:p>
            <a:pPr marL="0" indent="0" algn="ctr">
              <a:buNone/>
            </a:pPr>
            <a:r>
              <a:rPr lang="en-US" sz="1000" b="1" dirty="0">
                <a:solidFill>
                  <a:srgbClr val="2D1B4E"/>
                </a:solidFill>
                <a:latin typeface="Calibri" pitchFamily="34" charset="0"/>
                <a:ea typeface="Calibri" pitchFamily="34" charset="-122"/>
                <a:cs typeface="Calibri" pitchFamily="34" charset="-120"/>
              </a:rPr>
              <a:t>Demand History</a:t>
            </a:r>
            <a:endParaRPr lang="en-US" sz="1000" dirty="0"/>
          </a:p>
        </p:txBody>
      </p:sp>
      <p:sp>
        <p:nvSpPr>
          <p:cNvPr id="6" name="Shape 4"/>
          <p:cNvSpPr/>
          <p:nvPr/>
        </p:nvSpPr>
        <p:spPr>
          <a:xfrm>
            <a:off x="2468880" y="1554480"/>
            <a:ext cx="1828800" cy="502920"/>
          </a:xfrm>
          <a:prstGeom prst="rect">
            <a:avLst/>
          </a:prstGeom>
          <a:solidFill>
            <a:srgbClr val="E8DFF5"/>
          </a:solidFill>
          <a:ln w="12700">
            <a:solidFill>
              <a:srgbClr val="6B4C9A"/>
            </a:solidFill>
            <a:prstDash val="solid"/>
          </a:ln>
        </p:spPr>
      </p:sp>
      <p:sp>
        <p:nvSpPr>
          <p:cNvPr id="7" name="Text 5"/>
          <p:cNvSpPr/>
          <p:nvPr/>
        </p:nvSpPr>
        <p:spPr>
          <a:xfrm>
            <a:off x="2560320" y="1645920"/>
            <a:ext cx="1645920" cy="320040"/>
          </a:xfrm>
          <a:prstGeom prst="rect">
            <a:avLst/>
          </a:prstGeom>
          <a:noFill/>
          <a:ln/>
        </p:spPr>
        <p:txBody>
          <a:bodyPr wrap="square" rtlCol="0" anchor="ctr"/>
          <a:lstStyle/>
          <a:p>
            <a:pPr marL="0" indent="0" algn="ctr">
              <a:buNone/>
            </a:pPr>
            <a:r>
              <a:rPr lang="en-US" sz="1000" b="1" dirty="0">
                <a:solidFill>
                  <a:srgbClr val="2D1B4E"/>
                </a:solidFill>
                <a:latin typeface="Calibri" pitchFamily="34" charset="0"/>
                <a:ea typeface="Calibri" pitchFamily="34" charset="-122"/>
                <a:cs typeface="Calibri" pitchFamily="34" charset="-120"/>
              </a:rPr>
              <a:t>Weather</a:t>
            </a:r>
            <a:endParaRPr lang="en-US" sz="1000" dirty="0"/>
          </a:p>
          <a:p>
            <a:pPr marL="0" indent="0" algn="ctr">
              <a:buNone/>
            </a:pPr>
            <a:r>
              <a:rPr lang="en-US" sz="1000" b="1" dirty="0">
                <a:solidFill>
                  <a:srgbClr val="2D1B4E"/>
                </a:solidFill>
                <a:latin typeface="Calibri" pitchFamily="34" charset="0"/>
                <a:ea typeface="Calibri" pitchFamily="34" charset="-122"/>
                <a:cs typeface="Calibri" pitchFamily="34" charset="-120"/>
              </a:rPr>
              <a:t>Forecasts</a:t>
            </a:r>
            <a:endParaRPr lang="en-US" sz="1000" dirty="0"/>
          </a:p>
        </p:txBody>
      </p:sp>
      <p:sp>
        <p:nvSpPr>
          <p:cNvPr id="8" name="Shape 6"/>
          <p:cNvSpPr/>
          <p:nvPr/>
        </p:nvSpPr>
        <p:spPr>
          <a:xfrm>
            <a:off x="4480560" y="1554480"/>
            <a:ext cx="1828800" cy="502920"/>
          </a:xfrm>
          <a:prstGeom prst="rect">
            <a:avLst/>
          </a:prstGeom>
          <a:solidFill>
            <a:srgbClr val="E8DFF5"/>
          </a:solidFill>
          <a:ln w="12700">
            <a:solidFill>
              <a:srgbClr val="6B4C9A"/>
            </a:solidFill>
            <a:prstDash val="solid"/>
          </a:ln>
        </p:spPr>
      </p:sp>
      <p:sp>
        <p:nvSpPr>
          <p:cNvPr id="9" name="Text 7"/>
          <p:cNvSpPr/>
          <p:nvPr/>
        </p:nvSpPr>
        <p:spPr>
          <a:xfrm>
            <a:off x="4572000" y="1645920"/>
            <a:ext cx="1645920" cy="320040"/>
          </a:xfrm>
          <a:prstGeom prst="rect">
            <a:avLst/>
          </a:prstGeom>
          <a:noFill/>
          <a:ln/>
        </p:spPr>
        <p:txBody>
          <a:bodyPr wrap="square" rtlCol="0" anchor="ctr"/>
          <a:lstStyle/>
          <a:p>
            <a:pPr marL="0" indent="0" algn="ctr">
              <a:buNone/>
            </a:pPr>
            <a:r>
              <a:rPr lang="en-US" sz="1000" b="1" dirty="0">
                <a:solidFill>
                  <a:srgbClr val="2D1B4E"/>
                </a:solidFill>
                <a:latin typeface="Calibri" pitchFamily="34" charset="0"/>
                <a:ea typeface="Calibri" pitchFamily="34" charset="-122"/>
                <a:cs typeface="Calibri" pitchFamily="34" charset="-120"/>
              </a:rPr>
              <a:t>Asset Telemetry</a:t>
            </a:r>
            <a:endParaRPr lang="en-US" sz="1000" dirty="0"/>
          </a:p>
        </p:txBody>
      </p:sp>
      <p:sp>
        <p:nvSpPr>
          <p:cNvPr id="10" name="Shape 8"/>
          <p:cNvSpPr/>
          <p:nvPr/>
        </p:nvSpPr>
        <p:spPr>
          <a:xfrm>
            <a:off x="6492240" y="1554480"/>
            <a:ext cx="1828800" cy="502920"/>
          </a:xfrm>
          <a:prstGeom prst="rect">
            <a:avLst/>
          </a:prstGeom>
          <a:solidFill>
            <a:srgbClr val="E8DFF5"/>
          </a:solidFill>
          <a:ln w="12700">
            <a:solidFill>
              <a:srgbClr val="6B4C9A"/>
            </a:solidFill>
            <a:prstDash val="solid"/>
          </a:ln>
        </p:spPr>
      </p:sp>
      <p:sp>
        <p:nvSpPr>
          <p:cNvPr id="11" name="Text 9"/>
          <p:cNvSpPr/>
          <p:nvPr/>
        </p:nvSpPr>
        <p:spPr>
          <a:xfrm>
            <a:off x="6583680" y="1645920"/>
            <a:ext cx="1645920" cy="320040"/>
          </a:xfrm>
          <a:prstGeom prst="rect">
            <a:avLst/>
          </a:prstGeom>
          <a:noFill/>
          <a:ln/>
        </p:spPr>
        <p:txBody>
          <a:bodyPr wrap="square" rtlCol="0" anchor="ctr"/>
          <a:lstStyle/>
          <a:p>
            <a:pPr marL="0" indent="0" algn="ctr">
              <a:buNone/>
            </a:pPr>
            <a:r>
              <a:rPr lang="en-US" sz="1000" b="1" dirty="0">
                <a:solidFill>
                  <a:srgbClr val="2D1B4E"/>
                </a:solidFill>
                <a:latin typeface="Calibri" pitchFamily="34" charset="0"/>
                <a:ea typeface="Calibri" pitchFamily="34" charset="-122"/>
                <a:cs typeface="Calibri" pitchFamily="34" charset="-120"/>
              </a:rPr>
              <a:t>Grid Topology</a:t>
            </a:r>
            <a:endParaRPr lang="en-US" sz="1000" dirty="0"/>
          </a:p>
        </p:txBody>
      </p:sp>
      <p:sp>
        <p:nvSpPr>
          <p:cNvPr id="12" name="Text 10"/>
          <p:cNvSpPr/>
          <p:nvPr/>
        </p:nvSpPr>
        <p:spPr>
          <a:xfrm>
            <a:off x="4114800" y="2163699"/>
            <a:ext cx="548640" cy="233172"/>
          </a:xfrm>
          <a:prstGeom prst="rect">
            <a:avLst/>
          </a:prstGeom>
          <a:noFill/>
          <a:ln/>
        </p:spPr>
        <p:txBody>
          <a:bodyPr wrap="square" rtlCol="0" anchor="ctr"/>
          <a:lstStyle/>
          <a:p>
            <a:pPr marL="0" indent="0" algn="ctr">
              <a:buNone/>
            </a:pPr>
            <a:r>
              <a:rPr lang="en-US" sz="2400" dirty="0">
                <a:solidFill>
                  <a:srgbClr val="6B4C9A"/>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274320" y="2544318"/>
            <a:ext cx="8229600" cy="548640"/>
          </a:xfrm>
          <a:prstGeom prst="rect">
            <a:avLst/>
          </a:prstGeom>
          <a:solidFill>
            <a:srgbClr val="6B4C9A"/>
          </a:solidFill>
          <a:ln/>
        </p:spPr>
      </p:sp>
      <p:sp>
        <p:nvSpPr>
          <p:cNvPr id="14" name="Text 12"/>
          <p:cNvSpPr/>
          <p:nvPr/>
        </p:nvSpPr>
        <p:spPr>
          <a:xfrm>
            <a:off x="640080" y="2606040"/>
            <a:ext cx="78638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 Agents: Ingest → Forecast &amp; Performance (parallel) → Root Cause → Optimization → Critic → Brief</a:t>
            </a:r>
            <a:endParaRPr lang="en-US" sz="1100" dirty="0"/>
          </a:p>
        </p:txBody>
      </p:sp>
      <p:sp>
        <p:nvSpPr>
          <p:cNvPr id="15" name="Text 13"/>
          <p:cNvSpPr/>
          <p:nvPr/>
        </p:nvSpPr>
        <p:spPr>
          <a:xfrm>
            <a:off x="4114800" y="3200400"/>
            <a:ext cx="548640" cy="274320"/>
          </a:xfrm>
          <a:prstGeom prst="rect">
            <a:avLst/>
          </a:prstGeom>
          <a:noFill/>
          <a:ln/>
        </p:spPr>
        <p:txBody>
          <a:bodyPr wrap="square" rtlCol="0" anchor="ctr"/>
          <a:lstStyle/>
          <a:p>
            <a:pPr marL="0" indent="0" algn="ctr">
              <a:buNone/>
            </a:pPr>
            <a:r>
              <a:rPr lang="en-US" sz="2400" dirty="0">
                <a:solidFill>
                  <a:srgbClr val="6B4C9A"/>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457200" y="3611880"/>
            <a:ext cx="1828800" cy="685800"/>
          </a:xfrm>
          <a:prstGeom prst="rect">
            <a:avLst/>
          </a:prstGeom>
          <a:solidFill>
            <a:srgbClr val="E8DFF5"/>
          </a:solidFill>
          <a:ln w="25400">
            <a:solidFill>
              <a:srgbClr val="4A90E2"/>
            </a:solidFill>
            <a:prstDash val="solid"/>
          </a:ln>
        </p:spPr>
      </p:sp>
      <p:sp>
        <p:nvSpPr>
          <p:cNvPr id="17" name="Text 15"/>
          <p:cNvSpPr/>
          <p:nvPr/>
        </p:nvSpPr>
        <p:spPr>
          <a:xfrm>
            <a:off x="548640" y="3657600"/>
            <a:ext cx="1645920" cy="228600"/>
          </a:xfrm>
          <a:prstGeom prst="rect">
            <a:avLst/>
          </a:prstGeom>
          <a:noFill/>
          <a:ln/>
        </p:spPr>
        <p:txBody>
          <a:bodyPr wrap="square" rtlCol="0" anchor="ctr"/>
          <a:lstStyle/>
          <a:p>
            <a:pPr marL="0" indent="0">
              <a:buNone/>
            </a:pPr>
            <a:r>
              <a:rPr lang="en-US" sz="1000" b="1" dirty="0">
                <a:solidFill>
                  <a:srgbClr val="2D1B4E"/>
                </a:solidFill>
                <a:latin typeface="Calibri" pitchFamily="34" charset="0"/>
                <a:ea typeface="Calibri" pitchFamily="34" charset="-122"/>
                <a:cs typeface="Calibri" pitchFamily="34" charset="-120"/>
              </a:rPr>
              <a:t>Demand Forecast</a:t>
            </a:r>
            <a:endParaRPr lang="en-US" sz="1000" dirty="0"/>
          </a:p>
        </p:txBody>
      </p:sp>
      <p:sp>
        <p:nvSpPr>
          <p:cNvPr id="18" name="Text 16"/>
          <p:cNvSpPr/>
          <p:nvPr/>
        </p:nvSpPr>
        <p:spPr>
          <a:xfrm>
            <a:off x="548640" y="3792386"/>
            <a:ext cx="1645920" cy="347472"/>
          </a:xfrm>
          <a:prstGeom prst="rect">
            <a:avLst/>
          </a:prstGeom>
          <a:noFill/>
          <a:ln/>
        </p:spPr>
        <p:txBody>
          <a:bodyPr wrap="square" rtlCol="0" anchor="ctr"/>
          <a:lstStyle/>
          <a:p>
            <a:pPr marL="0" indent="0">
              <a:buNone/>
            </a:pPr>
            <a:r>
              <a:rPr lang="en-US" sz="800" b="1" dirty="0">
                <a:solidFill>
                  <a:srgbClr val="666666"/>
                </a:solidFill>
                <a:latin typeface="Calibri" pitchFamily="34" charset="0"/>
                <a:ea typeface="Calibri" pitchFamily="34" charset="-122"/>
                <a:cs typeface="Calibri" pitchFamily="34" charset="-120"/>
              </a:rPr>
              <a:t>72h quantile, spike risk</a:t>
            </a:r>
            <a:endParaRPr lang="en-US" sz="800" b="1" dirty="0"/>
          </a:p>
        </p:txBody>
      </p:sp>
      <p:sp>
        <p:nvSpPr>
          <p:cNvPr id="19" name="Shape 17"/>
          <p:cNvSpPr/>
          <p:nvPr/>
        </p:nvSpPr>
        <p:spPr>
          <a:xfrm>
            <a:off x="2468880" y="3611880"/>
            <a:ext cx="1828800" cy="685800"/>
          </a:xfrm>
          <a:prstGeom prst="rect">
            <a:avLst/>
          </a:prstGeom>
          <a:solidFill>
            <a:srgbClr val="E8DFF5"/>
          </a:solidFill>
          <a:ln w="25400">
            <a:solidFill>
              <a:srgbClr val="4A90E2"/>
            </a:solidFill>
            <a:prstDash val="solid"/>
          </a:ln>
        </p:spPr>
      </p:sp>
      <p:sp>
        <p:nvSpPr>
          <p:cNvPr id="20" name="Text 18"/>
          <p:cNvSpPr/>
          <p:nvPr/>
        </p:nvSpPr>
        <p:spPr>
          <a:xfrm>
            <a:off x="2560320" y="3657600"/>
            <a:ext cx="1645920" cy="228600"/>
          </a:xfrm>
          <a:prstGeom prst="rect">
            <a:avLst/>
          </a:prstGeom>
          <a:noFill/>
          <a:ln/>
        </p:spPr>
        <p:txBody>
          <a:bodyPr wrap="square" rtlCol="0" anchor="ctr"/>
          <a:lstStyle/>
          <a:p>
            <a:pPr marL="0" indent="0">
              <a:buNone/>
            </a:pPr>
            <a:r>
              <a:rPr lang="en-US" sz="1000" b="1" dirty="0">
                <a:solidFill>
                  <a:srgbClr val="2D1B4E"/>
                </a:solidFill>
                <a:latin typeface="Calibri" pitchFamily="34" charset="0"/>
                <a:ea typeface="Calibri" pitchFamily="34" charset="-122"/>
                <a:cs typeface="Calibri" pitchFamily="34" charset="-120"/>
              </a:rPr>
              <a:t>Performance Alerts</a:t>
            </a:r>
            <a:endParaRPr lang="en-US" sz="1000" dirty="0"/>
          </a:p>
        </p:txBody>
      </p:sp>
      <p:sp>
        <p:nvSpPr>
          <p:cNvPr id="21" name="Text 19"/>
          <p:cNvSpPr/>
          <p:nvPr/>
        </p:nvSpPr>
        <p:spPr>
          <a:xfrm>
            <a:off x="2560320" y="3792386"/>
            <a:ext cx="1645920" cy="347472"/>
          </a:xfrm>
          <a:prstGeom prst="rect">
            <a:avLst/>
          </a:prstGeom>
          <a:noFill/>
          <a:ln/>
        </p:spPr>
        <p:txBody>
          <a:bodyPr wrap="square" rtlCol="0" anchor="ctr"/>
          <a:lstStyle/>
          <a:p>
            <a:pPr marL="0" indent="0">
              <a:buNone/>
            </a:pPr>
            <a:r>
              <a:rPr lang="en-US" sz="800" b="1" dirty="0">
                <a:solidFill>
                  <a:srgbClr val="666666"/>
                </a:solidFill>
                <a:latin typeface="Calibri" pitchFamily="34" charset="0"/>
                <a:ea typeface="Calibri" pitchFamily="34" charset="-122"/>
                <a:cs typeface="Calibri" pitchFamily="34" charset="-120"/>
              </a:rPr>
              <a:t>Physics-based anomalies</a:t>
            </a:r>
            <a:endParaRPr lang="en-US" sz="800" b="1" dirty="0"/>
          </a:p>
        </p:txBody>
      </p:sp>
      <p:sp>
        <p:nvSpPr>
          <p:cNvPr id="22" name="Shape 20"/>
          <p:cNvSpPr/>
          <p:nvPr/>
        </p:nvSpPr>
        <p:spPr>
          <a:xfrm>
            <a:off x="4480560" y="3611880"/>
            <a:ext cx="1828800" cy="685800"/>
          </a:xfrm>
          <a:prstGeom prst="rect">
            <a:avLst/>
          </a:prstGeom>
          <a:solidFill>
            <a:srgbClr val="E8DFF5"/>
          </a:solidFill>
          <a:ln w="25400">
            <a:solidFill>
              <a:srgbClr val="4A90E2"/>
            </a:solidFill>
            <a:prstDash val="solid"/>
          </a:ln>
        </p:spPr>
      </p:sp>
      <p:sp>
        <p:nvSpPr>
          <p:cNvPr id="23" name="Text 21"/>
          <p:cNvSpPr/>
          <p:nvPr/>
        </p:nvSpPr>
        <p:spPr>
          <a:xfrm>
            <a:off x="4572000" y="3657600"/>
            <a:ext cx="1645920" cy="228600"/>
          </a:xfrm>
          <a:prstGeom prst="rect">
            <a:avLst/>
          </a:prstGeom>
          <a:noFill/>
          <a:ln/>
        </p:spPr>
        <p:txBody>
          <a:bodyPr wrap="square" rtlCol="0" anchor="ctr"/>
          <a:lstStyle/>
          <a:p>
            <a:pPr marL="0" indent="0">
              <a:buNone/>
            </a:pPr>
            <a:r>
              <a:rPr lang="en-US" sz="1000" b="1" dirty="0">
                <a:solidFill>
                  <a:srgbClr val="2D1B4E"/>
                </a:solidFill>
                <a:latin typeface="Calibri" pitchFamily="34" charset="0"/>
                <a:ea typeface="Calibri" pitchFamily="34" charset="-122"/>
                <a:cs typeface="Calibri" pitchFamily="34" charset="-120"/>
              </a:rPr>
              <a:t>Root Causes</a:t>
            </a:r>
            <a:endParaRPr lang="en-US" sz="1000" dirty="0"/>
          </a:p>
        </p:txBody>
      </p:sp>
      <p:sp>
        <p:nvSpPr>
          <p:cNvPr id="24" name="Text 22"/>
          <p:cNvSpPr/>
          <p:nvPr/>
        </p:nvSpPr>
        <p:spPr>
          <a:xfrm>
            <a:off x="4572000" y="3802937"/>
            <a:ext cx="1645920" cy="347472"/>
          </a:xfrm>
          <a:prstGeom prst="rect">
            <a:avLst/>
          </a:prstGeom>
          <a:noFill/>
          <a:ln/>
        </p:spPr>
        <p:txBody>
          <a:bodyPr wrap="square" rtlCol="0" anchor="ctr"/>
          <a:lstStyle/>
          <a:p>
            <a:pPr marL="0" indent="0">
              <a:buNone/>
            </a:pPr>
            <a:r>
              <a:rPr lang="en-US" sz="800" b="1" dirty="0">
                <a:solidFill>
                  <a:srgbClr val="666666"/>
                </a:solidFill>
                <a:latin typeface="Calibri" pitchFamily="34" charset="0"/>
                <a:ea typeface="Calibri" pitchFamily="34" charset="-122"/>
                <a:cs typeface="Calibri" pitchFamily="34" charset="-120"/>
              </a:rPr>
              <a:t>Ranked with evidence</a:t>
            </a:r>
            <a:endParaRPr lang="en-US" sz="800" b="1" dirty="0"/>
          </a:p>
        </p:txBody>
      </p:sp>
      <p:sp>
        <p:nvSpPr>
          <p:cNvPr id="25" name="Shape 23"/>
          <p:cNvSpPr/>
          <p:nvPr/>
        </p:nvSpPr>
        <p:spPr>
          <a:xfrm>
            <a:off x="6492240" y="3611880"/>
            <a:ext cx="1828800" cy="685800"/>
          </a:xfrm>
          <a:prstGeom prst="rect">
            <a:avLst/>
          </a:prstGeom>
          <a:solidFill>
            <a:srgbClr val="E8DFF5"/>
          </a:solidFill>
          <a:ln w="25400">
            <a:solidFill>
              <a:srgbClr val="4A90E2"/>
            </a:solidFill>
            <a:prstDash val="solid"/>
          </a:ln>
        </p:spPr>
      </p:sp>
      <p:sp>
        <p:nvSpPr>
          <p:cNvPr id="26" name="Text 24"/>
          <p:cNvSpPr/>
          <p:nvPr/>
        </p:nvSpPr>
        <p:spPr>
          <a:xfrm>
            <a:off x="6583680" y="3657600"/>
            <a:ext cx="1645920" cy="228600"/>
          </a:xfrm>
          <a:prstGeom prst="rect">
            <a:avLst/>
          </a:prstGeom>
          <a:noFill/>
          <a:ln/>
        </p:spPr>
        <p:txBody>
          <a:bodyPr wrap="square" rtlCol="0" anchor="ctr"/>
          <a:lstStyle/>
          <a:p>
            <a:pPr marL="0" indent="0">
              <a:buNone/>
            </a:pPr>
            <a:r>
              <a:rPr lang="en-US" sz="1000" b="1" dirty="0">
                <a:solidFill>
                  <a:srgbClr val="2D1B4E"/>
                </a:solidFill>
                <a:latin typeface="Calibri" pitchFamily="34" charset="0"/>
                <a:ea typeface="Calibri" pitchFamily="34" charset="-122"/>
                <a:cs typeface="Calibri" pitchFamily="34" charset="-120"/>
              </a:rPr>
              <a:t>Dispatch Brief</a:t>
            </a:r>
            <a:endParaRPr lang="en-US" sz="1000" dirty="0"/>
          </a:p>
        </p:txBody>
      </p:sp>
      <p:sp>
        <p:nvSpPr>
          <p:cNvPr id="27" name="Text 25"/>
          <p:cNvSpPr/>
          <p:nvPr/>
        </p:nvSpPr>
        <p:spPr>
          <a:xfrm>
            <a:off x="6583680" y="3800123"/>
            <a:ext cx="1645920" cy="347472"/>
          </a:xfrm>
          <a:prstGeom prst="rect">
            <a:avLst/>
          </a:prstGeom>
          <a:noFill/>
          <a:ln/>
        </p:spPr>
        <p:txBody>
          <a:bodyPr wrap="square" rtlCol="0" anchor="ctr"/>
          <a:lstStyle/>
          <a:p>
            <a:pPr marL="0" indent="0">
              <a:buNone/>
            </a:pPr>
            <a:r>
              <a:rPr lang="en-US" sz="800" b="1" dirty="0">
                <a:solidFill>
                  <a:srgbClr val="666666"/>
                </a:solidFill>
                <a:latin typeface="Calibri" pitchFamily="34" charset="0"/>
                <a:ea typeface="Calibri" pitchFamily="34" charset="-122"/>
                <a:cs typeface="Calibri" pitchFamily="34" charset="-120"/>
              </a:rPr>
              <a:t>27% more curtailment avoided</a:t>
            </a:r>
            <a:endParaRPr lang="en-US" sz="800" b="1" dirty="0"/>
          </a:p>
        </p:txBody>
      </p:sp>
      <p:sp>
        <p:nvSpPr>
          <p:cNvPr id="28" name="Shape 26"/>
          <p:cNvSpPr/>
          <p:nvPr/>
        </p:nvSpPr>
        <p:spPr>
          <a:xfrm>
            <a:off x="274320" y="4229100"/>
            <a:ext cx="8229600" cy="777240"/>
          </a:xfrm>
          <a:prstGeom prst="rect">
            <a:avLst/>
          </a:prstGeom>
          <a:solidFill>
            <a:srgbClr val="FFFACD"/>
          </a:solidFill>
          <a:ln w="12700">
            <a:solidFill>
              <a:srgbClr val="6B4C9A"/>
            </a:solidFill>
            <a:prstDash val="solid"/>
          </a:ln>
        </p:spPr>
        <p:txBody>
          <a:bodyPr/>
          <a:lstStyle/>
          <a:p>
            <a:endParaRPr lang="en-IN" dirty="0"/>
          </a:p>
        </p:txBody>
      </p:sp>
      <p:sp>
        <p:nvSpPr>
          <p:cNvPr id="29" name="Text 27"/>
          <p:cNvSpPr/>
          <p:nvPr/>
        </p:nvSpPr>
        <p:spPr>
          <a:xfrm>
            <a:off x="640080" y="4251960"/>
            <a:ext cx="7863840" cy="685800"/>
          </a:xfrm>
          <a:prstGeom prst="rect">
            <a:avLst/>
          </a:prstGeom>
          <a:noFill/>
          <a:ln/>
        </p:spPr>
        <p:txBody>
          <a:bodyPr wrap="square" rtlCol="0" anchor="ctr"/>
          <a:lstStyle/>
          <a:p>
            <a:pPr marL="0" indent="0">
              <a:buNone/>
            </a:pPr>
            <a:r>
              <a:rPr lang="en-US" sz="1100" b="1" dirty="0">
                <a:solidFill>
                  <a:srgbClr val="2D1B4E"/>
                </a:solidFill>
                <a:latin typeface="Calibri" pitchFamily="34" charset="0"/>
                <a:ea typeface="Calibri" pitchFamily="34" charset="-122"/>
                <a:cs typeface="Calibri" pitchFamily="34" charset="-120"/>
              </a:rPr>
              <a:t>Key Differentiator: LLM reasons and explains; deterministic tools compute. Critic agent verifies every number before publication.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E8DFF5"/>
          </a:solidFill>
          <a:ln/>
        </p:spPr>
        <p:txBody>
          <a:bodyPr/>
          <a:lstStyle/>
          <a:p>
            <a:endParaRPr lang="en-IN" dirty="0"/>
          </a:p>
        </p:txBody>
      </p:sp>
      <p:sp>
        <p:nvSpPr>
          <p:cNvPr id="3" name="Text 1"/>
          <p:cNvSpPr/>
          <p:nvPr/>
        </p:nvSpPr>
        <p:spPr>
          <a:xfrm>
            <a:off x="182880" y="365760"/>
            <a:ext cx="2834640" cy="457200"/>
          </a:xfrm>
          <a:prstGeom prst="rect">
            <a:avLst/>
          </a:prstGeom>
          <a:noFill/>
          <a:ln/>
        </p:spPr>
        <p:txBody>
          <a:bodyPr wrap="square" rtlCol="0" anchor="ctr"/>
          <a:lstStyle/>
          <a:p>
            <a:pPr marL="0" indent="0">
              <a:buNone/>
            </a:pPr>
            <a:r>
              <a:rPr lang="en-US" sz="2800" b="1" dirty="0">
                <a:solidFill>
                  <a:srgbClr val="2D1B4E"/>
                </a:solidFill>
                <a:latin typeface="Calibri" pitchFamily="34" charset="0"/>
                <a:ea typeface="Calibri" pitchFamily="34" charset="-122"/>
                <a:cs typeface="Calibri" pitchFamily="34" charset="-120"/>
              </a:rPr>
              <a:t>Architecture</a:t>
            </a:r>
            <a:endParaRPr lang="en-US" sz="2800" dirty="0"/>
          </a:p>
        </p:txBody>
      </p:sp>
      <p:sp>
        <p:nvSpPr>
          <p:cNvPr id="4" name="Text 2"/>
          <p:cNvSpPr/>
          <p:nvPr/>
        </p:nvSpPr>
        <p:spPr>
          <a:xfrm>
            <a:off x="274320" y="1005840"/>
            <a:ext cx="2651760" cy="228600"/>
          </a:xfrm>
          <a:prstGeom prst="rect">
            <a:avLst/>
          </a:prstGeom>
          <a:noFill/>
          <a:ln/>
        </p:spPr>
        <p:txBody>
          <a:bodyPr wrap="square" rtlCol="0" anchor="ctr"/>
          <a:lstStyle/>
          <a:p>
            <a:pPr marL="0" indent="0">
              <a:buNone/>
            </a:pPr>
            <a:r>
              <a:rPr lang="en-US" sz="1100" b="1" dirty="0">
                <a:solidFill>
                  <a:srgbClr val="6B4C9A"/>
                </a:solidFill>
                <a:latin typeface="Calibri" pitchFamily="34" charset="0"/>
                <a:ea typeface="Calibri" pitchFamily="34" charset="-122"/>
                <a:cs typeface="Calibri" pitchFamily="34" charset="-120"/>
              </a:rPr>
              <a:t>Presentation:</a:t>
            </a:r>
            <a:endParaRPr lang="en-US" sz="1100" dirty="0"/>
          </a:p>
        </p:txBody>
      </p:sp>
      <p:sp>
        <p:nvSpPr>
          <p:cNvPr id="5" name="Text 3"/>
          <p:cNvSpPr/>
          <p:nvPr/>
        </p:nvSpPr>
        <p:spPr>
          <a:xfrm>
            <a:off x="274320" y="1261872"/>
            <a:ext cx="2651760" cy="274320"/>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React SPA, PDF/HTML</a:t>
            </a:r>
            <a:endParaRPr lang="en-US" sz="1050" dirty="0"/>
          </a:p>
        </p:txBody>
      </p:sp>
      <p:sp>
        <p:nvSpPr>
          <p:cNvPr id="6" name="Text 4"/>
          <p:cNvSpPr/>
          <p:nvPr/>
        </p:nvSpPr>
        <p:spPr>
          <a:xfrm>
            <a:off x="274320" y="1600200"/>
            <a:ext cx="2651760" cy="228600"/>
          </a:xfrm>
          <a:prstGeom prst="rect">
            <a:avLst/>
          </a:prstGeom>
          <a:noFill/>
          <a:ln/>
        </p:spPr>
        <p:txBody>
          <a:bodyPr wrap="square" rtlCol="0" anchor="ctr"/>
          <a:lstStyle/>
          <a:p>
            <a:pPr marL="0" indent="0">
              <a:buNone/>
            </a:pPr>
            <a:r>
              <a:rPr lang="en-US" sz="1100" b="1" dirty="0">
                <a:solidFill>
                  <a:srgbClr val="6B4C9A"/>
                </a:solidFill>
                <a:latin typeface="Calibri" pitchFamily="34" charset="0"/>
                <a:ea typeface="Calibri" pitchFamily="34" charset="-122"/>
                <a:cs typeface="Calibri" pitchFamily="34" charset="-120"/>
              </a:rPr>
              <a:t>API:</a:t>
            </a:r>
            <a:endParaRPr lang="en-US" sz="1100" dirty="0"/>
          </a:p>
        </p:txBody>
      </p:sp>
      <p:sp>
        <p:nvSpPr>
          <p:cNvPr id="7" name="Text 5"/>
          <p:cNvSpPr/>
          <p:nvPr/>
        </p:nvSpPr>
        <p:spPr>
          <a:xfrm>
            <a:off x="274320" y="1856232"/>
            <a:ext cx="2651760" cy="274320"/>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FastAPI, REST + SSE</a:t>
            </a:r>
            <a:endParaRPr lang="en-US" sz="1050" dirty="0"/>
          </a:p>
        </p:txBody>
      </p:sp>
      <p:sp>
        <p:nvSpPr>
          <p:cNvPr id="8" name="Text 6"/>
          <p:cNvSpPr/>
          <p:nvPr/>
        </p:nvSpPr>
        <p:spPr>
          <a:xfrm>
            <a:off x="274320" y="2194560"/>
            <a:ext cx="2651760" cy="228600"/>
          </a:xfrm>
          <a:prstGeom prst="rect">
            <a:avLst/>
          </a:prstGeom>
          <a:noFill/>
          <a:ln/>
        </p:spPr>
        <p:txBody>
          <a:bodyPr wrap="square" rtlCol="0" anchor="ctr"/>
          <a:lstStyle/>
          <a:p>
            <a:pPr marL="0" indent="0">
              <a:buNone/>
            </a:pPr>
            <a:r>
              <a:rPr lang="en-US" sz="1100" b="1" dirty="0">
                <a:solidFill>
                  <a:srgbClr val="6B4C9A"/>
                </a:solidFill>
                <a:latin typeface="Calibri" pitchFamily="34" charset="0"/>
                <a:ea typeface="Calibri" pitchFamily="34" charset="-122"/>
                <a:cs typeface="Calibri" pitchFamily="34" charset="-120"/>
              </a:rPr>
              <a:t>Orchestration:</a:t>
            </a:r>
            <a:endParaRPr lang="en-US" sz="1100" dirty="0"/>
          </a:p>
        </p:txBody>
      </p:sp>
      <p:sp>
        <p:nvSpPr>
          <p:cNvPr id="9" name="Text 7"/>
          <p:cNvSpPr/>
          <p:nvPr/>
        </p:nvSpPr>
        <p:spPr>
          <a:xfrm>
            <a:off x="274320" y="2450592"/>
            <a:ext cx="2651760" cy="274320"/>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LangGraph, 8 Agents</a:t>
            </a:r>
            <a:endParaRPr lang="en-US" sz="1050" dirty="0"/>
          </a:p>
        </p:txBody>
      </p:sp>
      <p:sp>
        <p:nvSpPr>
          <p:cNvPr id="10" name="Text 8"/>
          <p:cNvSpPr/>
          <p:nvPr/>
        </p:nvSpPr>
        <p:spPr>
          <a:xfrm>
            <a:off x="274320" y="2788920"/>
            <a:ext cx="2651760" cy="228600"/>
          </a:xfrm>
          <a:prstGeom prst="rect">
            <a:avLst/>
          </a:prstGeom>
          <a:noFill/>
          <a:ln/>
        </p:spPr>
        <p:txBody>
          <a:bodyPr wrap="square" rtlCol="0" anchor="ctr"/>
          <a:lstStyle/>
          <a:p>
            <a:pPr marL="0" indent="0">
              <a:buNone/>
            </a:pPr>
            <a:r>
              <a:rPr lang="en-US" sz="1100" b="1" dirty="0">
                <a:solidFill>
                  <a:srgbClr val="6B4C9A"/>
                </a:solidFill>
                <a:latin typeface="Calibri" pitchFamily="34" charset="0"/>
                <a:ea typeface="Calibri" pitchFamily="34" charset="-122"/>
                <a:cs typeface="Calibri" pitchFamily="34" charset="-120"/>
              </a:rPr>
              <a:t>Tools:</a:t>
            </a:r>
            <a:endParaRPr lang="en-US" sz="1100" dirty="0"/>
          </a:p>
        </p:txBody>
      </p:sp>
      <p:sp>
        <p:nvSpPr>
          <p:cNvPr id="11" name="Text 9"/>
          <p:cNvSpPr/>
          <p:nvPr/>
        </p:nvSpPr>
        <p:spPr>
          <a:xfrm>
            <a:off x="274320" y="3044952"/>
            <a:ext cx="2651760" cy="274320"/>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15 Deterministic Tools</a:t>
            </a:r>
            <a:endParaRPr lang="en-US" sz="1050" dirty="0"/>
          </a:p>
        </p:txBody>
      </p:sp>
      <p:sp>
        <p:nvSpPr>
          <p:cNvPr id="12" name="Text 10"/>
          <p:cNvSpPr/>
          <p:nvPr/>
        </p:nvSpPr>
        <p:spPr>
          <a:xfrm>
            <a:off x="274320" y="3383280"/>
            <a:ext cx="2651760" cy="228600"/>
          </a:xfrm>
          <a:prstGeom prst="rect">
            <a:avLst/>
          </a:prstGeom>
          <a:noFill/>
          <a:ln/>
        </p:spPr>
        <p:txBody>
          <a:bodyPr wrap="square" rtlCol="0" anchor="ctr"/>
          <a:lstStyle/>
          <a:p>
            <a:pPr marL="0" indent="0">
              <a:buNone/>
            </a:pPr>
            <a:r>
              <a:rPr lang="en-US" sz="1100" b="1" dirty="0">
                <a:solidFill>
                  <a:srgbClr val="6B4C9A"/>
                </a:solidFill>
                <a:latin typeface="Calibri" pitchFamily="34" charset="0"/>
                <a:ea typeface="Calibri" pitchFamily="34" charset="-122"/>
                <a:cs typeface="Calibri" pitchFamily="34" charset="-120"/>
              </a:rPr>
              <a:t>Analytics:</a:t>
            </a:r>
            <a:endParaRPr lang="en-US" sz="1100" dirty="0"/>
          </a:p>
        </p:txBody>
      </p:sp>
      <p:sp>
        <p:nvSpPr>
          <p:cNvPr id="13" name="Text 11"/>
          <p:cNvSpPr/>
          <p:nvPr/>
        </p:nvSpPr>
        <p:spPr>
          <a:xfrm>
            <a:off x="274320" y="3639312"/>
            <a:ext cx="2651760" cy="274320"/>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LightGBM, pvlib, MILP</a:t>
            </a:r>
            <a:endParaRPr lang="en-US" sz="1050" dirty="0"/>
          </a:p>
        </p:txBody>
      </p:sp>
      <p:sp>
        <p:nvSpPr>
          <p:cNvPr id="14" name="Text 12"/>
          <p:cNvSpPr/>
          <p:nvPr/>
        </p:nvSpPr>
        <p:spPr>
          <a:xfrm>
            <a:off x="274320" y="3977640"/>
            <a:ext cx="2651760" cy="228600"/>
          </a:xfrm>
          <a:prstGeom prst="rect">
            <a:avLst/>
          </a:prstGeom>
          <a:noFill/>
          <a:ln/>
        </p:spPr>
        <p:txBody>
          <a:bodyPr wrap="square" rtlCol="0" anchor="ctr"/>
          <a:lstStyle/>
          <a:p>
            <a:pPr marL="0" indent="0">
              <a:buNone/>
            </a:pPr>
            <a:r>
              <a:rPr lang="en-US" sz="1100" b="1" dirty="0">
                <a:solidFill>
                  <a:srgbClr val="6B4C9A"/>
                </a:solidFill>
                <a:latin typeface="Calibri" pitchFamily="34" charset="0"/>
                <a:ea typeface="Calibri" pitchFamily="34" charset="-122"/>
                <a:cs typeface="Calibri" pitchFamily="34" charset="-120"/>
              </a:rPr>
              <a:t>Data:</a:t>
            </a:r>
            <a:endParaRPr lang="en-US" sz="1100" dirty="0"/>
          </a:p>
        </p:txBody>
      </p:sp>
      <p:sp>
        <p:nvSpPr>
          <p:cNvPr id="15" name="Text 13"/>
          <p:cNvSpPr/>
          <p:nvPr/>
        </p:nvSpPr>
        <p:spPr>
          <a:xfrm>
            <a:off x="274320" y="4233672"/>
            <a:ext cx="2651760" cy="274320"/>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DuckDB, Parquet Lake</a:t>
            </a:r>
            <a:endParaRPr lang="en-US" sz="1050" dirty="0"/>
          </a:p>
        </p:txBody>
      </p:sp>
      <p:sp>
        <p:nvSpPr>
          <p:cNvPr id="16" name="Text 14"/>
          <p:cNvSpPr/>
          <p:nvPr/>
        </p:nvSpPr>
        <p:spPr>
          <a:xfrm>
            <a:off x="3474720" y="365760"/>
            <a:ext cx="5029200" cy="365760"/>
          </a:xfrm>
          <a:prstGeom prst="rect">
            <a:avLst/>
          </a:prstGeom>
          <a:noFill/>
          <a:ln/>
        </p:spPr>
        <p:txBody>
          <a:bodyPr wrap="square" rtlCol="0" anchor="ctr"/>
          <a:lstStyle/>
          <a:p>
            <a:pPr marL="0" indent="0">
              <a:buNone/>
            </a:pPr>
            <a:r>
              <a:rPr lang="en-US" sz="2000" b="1" dirty="0">
                <a:solidFill>
                  <a:srgbClr val="2D1B4E"/>
                </a:solidFill>
                <a:latin typeface="Calibri" pitchFamily="34" charset="0"/>
                <a:ea typeface="Calibri" pitchFamily="34" charset="-122"/>
                <a:cs typeface="Calibri" pitchFamily="34" charset="-120"/>
              </a:rPr>
              <a:t>Eight-Agent Flow:</a:t>
            </a:r>
            <a:endParaRPr lang="en-US" sz="2000" dirty="0"/>
          </a:p>
        </p:txBody>
      </p:sp>
      <p:sp>
        <p:nvSpPr>
          <p:cNvPr id="17" name="Text 15"/>
          <p:cNvSpPr/>
          <p:nvPr/>
        </p:nvSpPr>
        <p:spPr>
          <a:xfrm>
            <a:off x="3566160" y="868680"/>
            <a:ext cx="4937760" cy="41148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1. Supervisor → Parse trigger, plan run</a:t>
            </a:r>
            <a:endParaRPr lang="en-US" sz="1100" dirty="0"/>
          </a:p>
        </p:txBody>
      </p:sp>
      <p:sp>
        <p:nvSpPr>
          <p:cNvPr id="18" name="Text 16"/>
          <p:cNvSpPr/>
          <p:nvPr/>
        </p:nvSpPr>
        <p:spPr>
          <a:xfrm>
            <a:off x="3566160" y="1325880"/>
            <a:ext cx="4937760" cy="41148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2. Data Ingest → Load demand, weather, telemetry</a:t>
            </a:r>
            <a:endParaRPr lang="en-US" sz="1100" dirty="0"/>
          </a:p>
        </p:txBody>
      </p:sp>
      <p:sp>
        <p:nvSpPr>
          <p:cNvPr id="19" name="Text 17"/>
          <p:cNvSpPr/>
          <p:nvPr/>
        </p:nvSpPr>
        <p:spPr>
          <a:xfrm>
            <a:off x="3566160" y="1783080"/>
            <a:ext cx="4937760" cy="41148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3. Forecast Agent ⟷ Performance Agent (parallel)</a:t>
            </a:r>
            <a:endParaRPr lang="en-US" sz="1100" dirty="0"/>
          </a:p>
        </p:txBody>
      </p:sp>
      <p:sp>
        <p:nvSpPr>
          <p:cNvPr id="20" name="Text 18"/>
          <p:cNvSpPr/>
          <p:nvPr/>
        </p:nvSpPr>
        <p:spPr>
          <a:xfrm>
            <a:off x="3566160" y="2240280"/>
            <a:ext cx="4937760" cy="41148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4. Root Cause Agent (if anomalies detected)</a:t>
            </a:r>
            <a:endParaRPr lang="en-US" sz="1100" dirty="0"/>
          </a:p>
        </p:txBody>
      </p:sp>
      <p:sp>
        <p:nvSpPr>
          <p:cNvPr id="21" name="Text 19"/>
          <p:cNvSpPr/>
          <p:nvPr/>
        </p:nvSpPr>
        <p:spPr>
          <a:xfrm>
            <a:off x="3566160" y="2697480"/>
            <a:ext cx="4937760" cy="41148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5. Dispatch Optimiser → MILP solver + attribution</a:t>
            </a:r>
            <a:endParaRPr lang="en-US" sz="1100" dirty="0"/>
          </a:p>
        </p:txBody>
      </p:sp>
      <p:sp>
        <p:nvSpPr>
          <p:cNvPr id="22" name="Text 20"/>
          <p:cNvSpPr/>
          <p:nvPr/>
        </p:nvSpPr>
        <p:spPr>
          <a:xfrm>
            <a:off x="3566160" y="3154680"/>
            <a:ext cx="4937760" cy="41148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6. Critic Agent → Verify all claims</a:t>
            </a:r>
            <a:endParaRPr lang="en-US" sz="1100" dirty="0"/>
          </a:p>
        </p:txBody>
      </p:sp>
      <p:sp>
        <p:nvSpPr>
          <p:cNvPr id="23" name="Text 21"/>
          <p:cNvSpPr/>
          <p:nvPr/>
        </p:nvSpPr>
        <p:spPr>
          <a:xfrm>
            <a:off x="3566160" y="3611880"/>
            <a:ext cx="4937760" cy="41148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7. Briefing Agent → Generate BLUF brief</a:t>
            </a:r>
            <a:endParaRPr lang="en-US" sz="1100" dirty="0"/>
          </a:p>
        </p:txBody>
      </p:sp>
      <p:sp>
        <p:nvSpPr>
          <p:cNvPr id="24" name="Text 22"/>
          <p:cNvSpPr/>
          <p:nvPr/>
        </p:nvSpPr>
        <p:spPr>
          <a:xfrm>
            <a:off x="3566160" y="4069080"/>
            <a:ext cx="4937760" cy="41148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8. Output → HTML/PDF to operator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E8DFF5"/>
          </a:solidFill>
          <a:ln/>
        </p:spPr>
      </p:sp>
      <p:sp>
        <p:nvSpPr>
          <p:cNvPr id="3" name="Text 1"/>
          <p:cNvSpPr/>
          <p:nvPr/>
        </p:nvSpPr>
        <p:spPr>
          <a:xfrm>
            <a:off x="182880" y="457200"/>
            <a:ext cx="2834640" cy="457200"/>
          </a:xfrm>
          <a:prstGeom prst="rect">
            <a:avLst/>
          </a:prstGeom>
          <a:noFill/>
          <a:ln/>
        </p:spPr>
        <p:txBody>
          <a:bodyPr wrap="square" rtlCol="0" anchor="ctr"/>
          <a:lstStyle/>
          <a:p>
            <a:pPr marL="0" indent="0">
              <a:buNone/>
            </a:pPr>
            <a:r>
              <a:rPr lang="en-US" sz="2800" b="1" dirty="0">
                <a:solidFill>
                  <a:srgbClr val="2D1B4E"/>
                </a:solidFill>
                <a:latin typeface="Calibri" pitchFamily="34" charset="0"/>
                <a:ea typeface="Calibri" pitchFamily="34" charset="-122"/>
                <a:cs typeface="Calibri" pitchFamily="34" charset="-120"/>
              </a:rPr>
              <a:t>Demo</a:t>
            </a:r>
            <a:endParaRPr lang="en-US" sz="2800" dirty="0"/>
          </a:p>
        </p:txBody>
      </p:sp>
      <p:sp>
        <p:nvSpPr>
          <p:cNvPr id="4" name="Text 2"/>
          <p:cNvSpPr/>
          <p:nvPr/>
        </p:nvSpPr>
        <p:spPr>
          <a:xfrm>
            <a:off x="274320" y="1188720"/>
            <a:ext cx="2651760" cy="548640"/>
          </a:xfrm>
          <a:prstGeom prst="rect">
            <a:avLst/>
          </a:prstGeom>
          <a:noFill/>
          <a:ln/>
        </p:spPr>
        <p:txBody>
          <a:bodyPr wrap="square" rtlCol="0" anchor="ctr"/>
          <a:lstStyle/>
          <a:p>
            <a:pPr marL="0" indent="0">
              <a:buNone/>
            </a:pPr>
            <a:r>
              <a:rPr lang="en-US" sz="1100" dirty="0">
                <a:solidFill>
                  <a:srgbClr val="2D1B4E"/>
                </a:solidFill>
                <a:latin typeface="Calibri" pitchFamily="34" charset="0"/>
                <a:ea typeface="Calibri" pitchFamily="34" charset="-122"/>
                <a:cs typeface="Calibri" pitchFamily="34" charset="-120"/>
              </a:rPr>
              <a:t>→ Live 72h forecast with demand spikes</a:t>
            </a:r>
            <a:endParaRPr lang="en-US" sz="1100" dirty="0"/>
          </a:p>
        </p:txBody>
      </p:sp>
      <p:sp>
        <p:nvSpPr>
          <p:cNvPr id="5" name="Text 3"/>
          <p:cNvSpPr/>
          <p:nvPr/>
        </p:nvSpPr>
        <p:spPr>
          <a:xfrm>
            <a:off x="274320" y="1828800"/>
            <a:ext cx="2651760" cy="548640"/>
          </a:xfrm>
          <a:prstGeom prst="rect">
            <a:avLst/>
          </a:prstGeom>
          <a:noFill/>
          <a:ln/>
        </p:spPr>
        <p:txBody>
          <a:bodyPr wrap="square" rtlCol="0" anchor="ctr"/>
          <a:lstStyle/>
          <a:p>
            <a:pPr marL="0" indent="0">
              <a:buNone/>
            </a:pPr>
            <a:r>
              <a:rPr lang="en-US" sz="1100" dirty="0">
                <a:solidFill>
                  <a:srgbClr val="2D1B4E"/>
                </a:solidFill>
                <a:latin typeface="Calibri" pitchFamily="34" charset="0"/>
                <a:ea typeface="Calibri" pitchFamily="34" charset="-122"/>
                <a:cs typeface="Calibri" pitchFamily="34" charset="-120"/>
              </a:rPr>
              <a:t>→ Asset anomaly map (color = severity)</a:t>
            </a:r>
            <a:endParaRPr lang="en-US" sz="1100" dirty="0"/>
          </a:p>
        </p:txBody>
      </p:sp>
      <p:sp>
        <p:nvSpPr>
          <p:cNvPr id="6" name="Text 4"/>
          <p:cNvSpPr/>
          <p:nvPr/>
        </p:nvSpPr>
        <p:spPr>
          <a:xfrm>
            <a:off x="274320" y="2468880"/>
            <a:ext cx="2651760" cy="548640"/>
          </a:xfrm>
          <a:prstGeom prst="rect">
            <a:avLst/>
          </a:prstGeom>
          <a:noFill/>
          <a:ln/>
        </p:spPr>
        <p:txBody>
          <a:bodyPr wrap="square" rtlCol="0" anchor="ctr"/>
          <a:lstStyle/>
          <a:p>
            <a:pPr marL="0" indent="0">
              <a:buNone/>
            </a:pPr>
            <a:r>
              <a:rPr lang="en-US" sz="1100" dirty="0">
                <a:solidFill>
                  <a:srgbClr val="2D1B4E"/>
                </a:solidFill>
                <a:latin typeface="Calibri" pitchFamily="34" charset="0"/>
                <a:ea typeface="Calibri" pitchFamily="34" charset="-122"/>
                <a:cs typeface="Calibri" pitchFamily="34" charset="-120"/>
              </a:rPr>
              <a:t>→ Root cause diagnosis ranked by confidence</a:t>
            </a:r>
            <a:endParaRPr lang="en-US" sz="1100" dirty="0"/>
          </a:p>
        </p:txBody>
      </p:sp>
      <p:sp>
        <p:nvSpPr>
          <p:cNvPr id="7" name="Text 5"/>
          <p:cNvSpPr/>
          <p:nvPr/>
        </p:nvSpPr>
        <p:spPr>
          <a:xfrm>
            <a:off x="274320" y="3108960"/>
            <a:ext cx="2651760" cy="548640"/>
          </a:xfrm>
          <a:prstGeom prst="rect">
            <a:avLst/>
          </a:prstGeom>
          <a:noFill/>
          <a:ln/>
        </p:spPr>
        <p:txBody>
          <a:bodyPr wrap="square" rtlCol="0" anchor="ctr"/>
          <a:lstStyle/>
          <a:p>
            <a:pPr marL="0" indent="0">
              <a:buNone/>
            </a:pPr>
            <a:r>
              <a:rPr lang="en-US" sz="1100" dirty="0">
                <a:solidFill>
                  <a:srgbClr val="2D1B4E"/>
                </a:solidFill>
                <a:latin typeface="Calibri" pitchFamily="34" charset="0"/>
                <a:ea typeface="Calibri" pitchFamily="34" charset="-122"/>
                <a:cs typeface="Calibri" pitchFamily="34" charset="-120"/>
              </a:rPr>
              <a:t>→ Dispatch plan with counterfactuals</a:t>
            </a:r>
            <a:endParaRPr lang="en-US" sz="1100" dirty="0"/>
          </a:p>
        </p:txBody>
      </p:sp>
      <p:sp>
        <p:nvSpPr>
          <p:cNvPr id="8" name="Text 6"/>
          <p:cNvSpPr/>
          <p:nvPr/>
        </p:nvSpPr>
        <p:spPr>
          <a:xfrm>
            <a:off x="274320" y="3749040"/>
            <a:ext cx="2651760" cy="548640"/>
          </a:xfrm>
          <a:prstGeom prst="rect">
            <a:avLst/>
          </a:prstGeom>
          <a:noFill/>
          <a:ln/>
        </p:spPr>
        <p:txBody>
          <a:bodyPr wrap="square" rtlCol="0" anchor="ctr"/>
          <a:lstStyle/>
          <a:p>
            <a:pPr marL="0" indent="0">
              <a:buNone/>
            </a:pPr>
            <a:r>
              <a:rPr lang="en-US" sz="1100" dirty="0">
                <a:solidFill>
                  <a:srgbClr val="2D1B4E"/>
                </a:solidFill>
                <a:latin typeface="Calibri" pitchFamily="34" charset="0"/>
                <a:ea typeface="Calibri" pitchFamily="34" charset="-122"/>
                <a:cs typeface="Calibri" pitchFamily="34" charset="-120"/>
              </a:rPr>
              <a:t>→ Curtailment attribution by constraint type</a:t>
            </a:r>
            <a:endParaRPr lang="en-US" sz="1100" dirty="0"/>
          </a:p>
        </p:txBody>
      </p:sp>
      <p:sp>
        <p:nvSpPr>
          <p:cNvPr id="9" name="Text 7"/>
          <p:cNvSpPr/>
          <p:nvPr/>
        </p:nvSpPr>
        <p:spPr>
          <a:xfrm>
            <a:off x="3474720" y="365760"/>
            <a:ext cx="5029200" cy="457200"/>
          </a:xfrm>
          <a:prstGeom prst="rect">
            <a:avLst/>
          </a:prstGeom>
          <a:noFill/>
          <a:ln/>
        </p:spPr>
        <p:txBody>
          <a:bodyPr wrap="square" rtlCol="0" anchor="ctr"/>
          <a:lstStyle/>
          <a:p>
            <a:pPr marL="0" indent="0">
              <a:buNone/>
            </a:pPr>
            <a:r>
              <a:rPr lang="en-US" b="1" dirty="0">
                <a:solidFill>
                  <a:srgbClr val="2D1B4E"/>
                </a:solidFill>
                <a:latin typeface="Calibri" pitchFamily="34" charset="0"/>
                <a:ea typeface="Calibri" pitchFamily="34" charset="-122"/>
                <a:cs typeface="Calibri" pitchFamily="34" charset="-120"/>
              </a:rPr>
              <a:t>Key Feature: Integrated Operator Brief</a:t>
            </a:r>
            <a:endParaRPr lang="en-US" dirty="0"/>
          </a:p>
        </p:txBody>
      </p:sp>
      <p:sp>
        <p:nvSpPr>
          <p:cNvPr id="10" name="Text 8"/>
          <p:cNvSpPr/>
          <p:nvPr/>
        </p:nvSpPr>
        <p:spPr>
          <a:xfrm>
            <a:off x="3474720" y="914400"/>
            <a:ext cx="5029200" cy="548640"/>
          </a:xfrm>
          <a:prstGeom prst="rect">
            <a:avLst/>
          </a:prstGeom>
          <a:noFill/>
          <a:ln/>
        </p:spPr>
        <p:txBody>
          <a:bodyPr wrap="square" rtlCol="0" anchor="ctr"/>
          <a:lstStyle/>
          <a:p>
            <a:pPr marL="0" indent="0">
              <a:buNone/>
            </a:pPr>
            <a:r>
              <a:rPr lang="en-US" sz="1200" dirty="0">
                <a:solidFill>
                  <a:srgbClr val="666666"/>
                </a:solidFill>
                <a:latin typeface="Calibri" pitchFamily="34" charset="0"/>
                <a:ea typeface="Calibri" pitchFamily="34" charset="-122"/>
                <a:cs typeface="Calibri" pitchFamily="34" charset="-120"/>
              </a:rPr>
              <a:t>Single BLUF-format PDF/HTML document that answers all four questions an operator needs in &lt;3 minutes:</a:t>
            </a:r>
            <a:endParaRPr lang="en-US" sz="1200" dirty="0"/>
          </a:p>
        </p:txBody>
      </p:sp>
      <p:sp>
        <p:nvSpPr>
          <p:cNvPr id="11" name="Shape 9"/>
          <p:cNvSpPr/>
          <p:nvPr/>
        </p:nvSpPr>
        <p:spPr>
          <a:xfrm>
            <a:off x="3474720" y="1600200"/>
            <a:ext cx="457200" cy="457200"/>
          </a:xfrm>
          <a:prstGeom prst="rect">
            <a:avLst/>
          </a:prstGeom>
          <a:solidFill>
            <a:srgbClr val="6B4C9A"/>
          </a:solidFill>
          <a:ln/>
        </p:spPr>
      </p:sp>
      <p:sp>
        <p:nvSpPr>
          <p:cNvPr id="12" name="Text 10"/>
          <p:cNvSpPr/>
          <p:nvPr/>
        </p:nvSpPr>
        <p:spPr>
          <a:xfrm>
            <a:off x="3474720" y="160020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3" name="Text 11"/>
          <p:cNvSpPr/>
          <p:nvPr/>
        </p:nvSpPr>
        <p:spPr>
          <a:xfrm>
            <a:off x="4023360" y="1600200"/>
            <a:ext cx="448056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Next demand spike (72h horizon, P10/P50/P90)</a:t>
            </a:r>
            <a:endParaRPr lang="en-US" sz="1100" dirty="0"/>
          </a:p>
        </p:txBody>
      </p:sp>
      <p:sp>
        <p:nvSpPr>
          <p:cNvPr id="14" name="Shape 12"/>
          <p:cNvSpPr/>
          <p:nvPr/>
        </p:nvSpPr>
        <p:spPr>
          <a:xfrm>
            <a:off x="3474720" y="2423160"/>
            <a:ext cx="457200" cy="457200"/>
          </a:xfrm>
          <a:prstGeom prst="rect">
            <a:avLst/>
          </a:prstGeom>
          <a:solidFill>
            <a:srgbClr val="6B4C9A"/>
          </a:solidFill>
          <a:ln/>
        </p:spPr>
        <p:txBody>
          <a:bodyPr/>
          <a:lstStyle/>
          <a:p>
            <a:endParaRPr lang="en-IN" sz="2400" dirty="0"/>
          </a:p>
        </p:txBody>
      </p:sp>
      <p:sp>
        <p:nvSpPr>
          <p:cNvPr id="15" name="Text 13"/>
          <p:cNvSpPr/>
          <p:nvPr/>
        </p:nvSpPr>
        <p:spPr>
          <a:xfrm>
            <a:off x="3474720" y="2423160"/>
            <a:ext cx="457200" cy="457200"/>
          </a:xfrm>
          <a:prstGeom prst="rect">
            <a:avLst/>
          </a:prstGeom>
          <a:noFill/>
          <a:ln/>
        </p:spPr>
        <p:txBody>
          <a:bodyPr wrap="square" rtlCol="0" anchor="ctr"/>
          <a:lstStyle/>
          <a:p>
            <a:pPr marL="0" indent="0" algn="ctr">
              <a:buNone/>
            </a:pPr>
            <a:r>
              <a:rPr lang="en-US" dirty="0">
                <a:solidFill>
                  <a:schemeClr val="bg1"/>
                </a:solidFill>
              </a:rPr>
              <a:t>2</a:t>
            </a:r>
          </a:p>
        </p:txBody>
      </p:sp>
      <p:sp>
        <p:nvSpPr>
          <p:cNvPr id="16" name="Text 14"/>
          <p:cNvSpPr/>
          <p:nvPr/>
        </p:nvSpPr>
        <p:spPr>
          <a:xfrm>
            <a:off x="4023360" y="2423160"/>
            <a:ext cx="448056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Which renewable assets are underperforming (PR, capacity factor)</a:t>
            </a:r>
            <a:endParaRPr lang="en-US" sz="1100" dirty="0"/>
          </a:p>
        </p:txBody>
      </p:sp>
      <p:sp>
        <p:nvSpPr>
          <p:cNvPr id="17" name="Shape 15"/>
          <p:cNvSpPr/>
          <p:nvPr/>
        </p:nvSpPr>
        <p:spPr>
          <a:xfrm>
            <a:off x="3474720" y="3246120"/>
            <a:ext cx="457200" cy="457200"/>
          </a:xfrm>
          <a:prstGeom prst="rect">
            <a:avLst/>
          </a:prstGeom>
          <a:solidFill>
            <a:srgbClr val="6B4C9A"/>
          </a:solidFill>
          <a:ln/>
        </p:spPr>
      </p:sp>
      <p:sp>
        <p:nvSpPr>
          <p:cNvPr id="18" name="Text 16"/>
          <p:cNvSpPr/>
          <p:nvPr/>
        </p:nvSpPr>
        <p:spPr>
          <a:xfrm>
            <a:off x="3474720" y="3246120"/>
            <a:ext cx="457200" cy="457200"/>
          </a:xfrm>
          <a:prstGeom prst="rect">
            <a:avLst/>
          </a:prstGeom>
          <a:noFill/>
          <a:ln/>
        </p:spPr>
        <p:txBody>
          <a:bodyPr wrap="square" rtlCol="0" anchor="ctr"/>
          <a:lstStyle/>
          <a:p>
            <a:pPr marL="0" indent="0" algn="ctr">
              <a:buNone/>
            </a:pPr>
            <a:r>
              <a:rPr lang="en-US" dirty="0">
                <a:solidFill>
                  <a:schemeClr val="bg1"/>
                </a:solidFill>
              </a:rPr>
              <a:t>3</a:t>
            </a:r>
          </a:p>
        </p:txBody>
      </p:sp>
      <p:sp>
        <p:nvSpPr>
          <p:cNvPr id="19" name="Text 17"/>
          <p:cNvSpPr/>
          <p:nvPr/>
        </p:nvSpPr>
        <p:spPr>
          <a:xfrm>
            <a:off x="4023360" y="3246120"/>
            <a:ext cx="448056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Root causes ranked by confidence with evidence</a:t>
            </a:r>
            <a:endParaRPr lang="en-US" sz="1100" dirty="0"/>
          </a:p>
        </p:txBody>
      </p:sp>
      <p:sp>
        <p:nvSpPr>
          <p:cNvPr id="20" name="Shape 18"/>
          <p:cNvSpPr/>
          <p:nvPr/>
        </p:nvSpPr>
        <p:spPr>
          <a:xfrm>
            <a:off x="3474720" y="4069080"/>
            <a:ext cx="457200" cy="457200"/>
          </a:xfrm>
          <a:prstGeom prst="rect">
            <a:avLst/>
          </a:prstGeom>
          <a:solidFill>
            <a:srgbClr val="6B4C9A"/>
          </a:solidFill>
          <a:ln/>
        </p:spPr>
      </p:sp>
      <p:sp>
        <p:nvSpPr>
          <p:cNvPr id="21" name="Text 19"/>
          <p:cNvSpPr/>
          <p:nvPr/>
        </p:nvSpPr>
        <p:spPr>
          <a:xfrm>
            <a:off x="3474720" y="4069080"/>
            <a:ext cx="457200" cy="457200"/>
          </a:xfrm>
          <a:prstGeom prst="rect">
            <a:avLst/>
          </a:prstGeom>
          <a:noFill/>
          <a:ln/>
        </p:spPr>
        <p:txBody>
          <a:bodyPr wrap="square" rtlCol="0" anchor="ctr"/>
          <a:lstStyle/>
          <a:p>
            <a:pPr marL="0" indent="0" algn="ctr">
              <a:buNone/>
            </a:pPr>
            <a:r>
              <a:rPr lang="en-US" dirty="0">
                <a:solidFill>
                  <a:schemeClr val="bg1"/>
                </a:solidFill>
              </a:rPr>
              <a:t>4</a:t>
            </a:r>
          </a:p>
        </p:txBody>
      </p:sp>
      <p:sp>
        <p:nvSpPr>
          <p:cNvPr id="22" name="Text 20"/>
          <p:cNvSpPr/>
          <p:nvPr/>
        </p:nvSpPr>
        <p:spPr>
          <a:xfrm>
            <a:off x="4023360" y="4069080"/>
            <a:ext cx="448056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Recommended dispatch actions to minimize curtailment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E8DFF5"/>
          </a:solidFill>
          <a:ln/>
        </p:spPr>
      </p:sp>
      <p:sp>
        <p:nvSpPr>
          <p:cNvPr id="3" name="Text 1"/>
          <p:cNvSpPr/>
          <p:nvPr/>
        </p:nvSpPr>
        <p:spPr>
          <a:xfrm>
            <a:off x="182880" y="365760"/>
            <a:ext cx="2834640" cy="548640"/>
          </a:xfrm>
          <a:prstGeom prst="rect">
            <a:avLst/>
          </a:prstGeom>
          <a:noFill/>
          <a:ln/>
        </p:spPr>
        <p:txBody>
          <a:bodyPr wrap="square" rtlCol="0" anchor="ctr"/>
          <a:lstStyle/>
          <a:p>
            <a:pPr marL="0" indent="0">
              <a:buNone/>
            </a:pPr>
            <a:r>
              <a:rPr lang="en-US" sz="2400" b="1" dirty="0">
                <a:solidFill>
                  <a:srgbClr val="2D1B4E"/>
                </a:solidFill>
                <a:latin typeface="Calibri" pitchFamily="34" charset="0"/>
                <a:ea typeface="Calibri" pitchFamily="34" charset="-122"/>
                <a:cs typeface="Calibri" pitchFamily="34" charset="-120"/>
              </a:rPr>
              <a:t>IBM Technologies</a:t>
            </a:r>
            <a:endParaRPr lang="en-US" sz="2400" dirty="0"/>
          </a:p>
        </p:txBody>
      </p:sp>
      <p:sp>
        <p:nvSpPr>
          <p:cNvPr id="4" name="Text 2"/>
          <p:cNvSpPr/>
          <p:nvPr/>
        </p:nvSpPr>
        <p:spPr>
          <a:xfrm>
            <a:off x="182880" y="1005840"/>
            <a:ext cx="2834640" cy="731520"/>
          </a:xfrm>
          <a:prstGeom prst="rect">
            <a:avLst/>
          </a:prstGeom>
          <a:noFill/>
          <a:ln/>
        </p:spPr>
        <p:txBody>
          <a:bodyPr wrap="square"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IBM Bob accelerated development and iteration of GridSense MVP.</a:t>
            </a:r>
            <a:endParaRPr lang="en-US" sz="1200" dirty="0"/>
          </a:p>
        </p:txBody>
      </p:sp>
      <p:sp>
        <p:nvSpPr>
          <p:cNvPr id="5" name="Text 3"/>
          <p:cNvSpPr/>
          <p:nvPr/>
        </p:nvSpPr>
        <p:spPr>
          <a:xfrm>
            <a:off x="182880" y="1920240"/>
            <a:ext cx="2834640" cy="320040"/>
          </a:xfrm>
          <a:prstGeom prst="rect">
            <a:avLst/>
          </a:prstGeom>
          <a:noFill/>
          <a:ln/>
        </p:spPr>
        <p:txBody>
          <a:bodyPr wrap="square" rtlCol="0" anchor="ctr"/>
          <a:lstStyle/>
          <a:p>
            <a:pPr marL="0" indent="0">
              <a:buNone/>
            </a:pPr>
            <a:r>
              <a:rPr lang="en-US" sz="1600" b="1" dirty="0">
                <a:solidFill>
                  <a:srgbClr val="6B4C9A"/>
                </a:solidFill>
                <a:latin typeface="Calibri" pitchFamily="34" charset="0"/>
                <a:ea typeface="Calibri" pitchFamily="34" charset="-122"/>
                <a:cs typeface="Calibri" pitchFamily="34" charset="-120"/>
              </a:rPr>
              <a:t>IBM Bob</a:t>
            </a:r>
            <a:endParaRPr lang="en-US" sz="1600" dirty="0"/>
          </a:p>
        </p:txBody>
      </p:sp>
      <p:sp>
        <p:nvSpPr>
          <p:cNvPr id="6" name="Text 4"/>
          <p:cNvSpPr/>
          <p:nvPr/>
        </p:nvSpPr>
        <p:spPr>
          <a:xfrm>
            <a:off x="274320" y="2286000"/>
            <a:ext cx="2651760" cy="36576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 AI-powered development assistant</a:t>
            </a:r>
            <a:endParaRPr lang="en-US" sz="1000" dirty="0"/>
          </a:p>
        </p:txBody>
      </p:sp>
      <p:sp>
        <p:nvSpPr>
          <p:cNvPr id="7" name="Text 5"/>
          <p:cNvSpPr/>
          <p:nvPr/>
        </p:nvSpPr>
        <p:spPr>
          <a:xfrm>
            <a:off x="274320" y="2697480"/>
            <a:ext cx="2651760" cy="36576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 Accelerated code generation</a:t>
            </a:r>
            <a:endParaRPr lang="en-US" sz="1000" dirty="0"/>
          </a:p>
        </p:txBody>
      </p:sp>
      <p:sp>
        <p:nvSpPr>
          <p:cNvPr id="8" name="Text 6"/>
          <p:cNvSpPr/>
          <p:nvPr/>
        </p:nvSpPr>
        <p:spPr>
          <a:xfrm>
            <a:off x="274320" y="3108960"/>
            <a:ext cx="2651760" cy="36576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 Frontend &amp; backend iteration</a:t>
            </a:r>
            <a:endParaRPr lang="en-US" sz="1000" dirty="0"/>
          </a:p>
        </p:txBody>
      </p:sp>
      <p:sp>
        <p:nvSpPr>
          <p:cNvPr id="9" name="Text 7"/>
          <p:cNvSpPr/>
          <p:nvPr/>
        </p:nvSpPr>
        <p:spPr>
          <a:xfrm>
            <a:off x="274320" y="3520440"/>
            <a:ext cx="2651760" cy="365760"/>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 Reduced dev cycle time</a:t>
            </a:r>
            <a:endParaRPr lang="en-US" sz="1000" dirty="0"/>
          </a:p>
        </p:txBody>
      </p:sp>
      <p:sp>
        <p:nvSpPr>
          <p:cNvPr id="10" name="Text 8"/>
          <p:cNvSpPr/>
          <p:nvPr/>
        </p:nvSpPr>
        <p:spPr>
          <a:xfrm>
            <a:off x="3474720" y="411480"/>
            <a:ext cx="5029200" cy="457200"/>
          </a:xfrm>
          <a:prstGeom prst="rect">
            <a:avLst/>
          </a:prstGeom>
          <a:noFill/>
          <a:ln/>
        </p:spPr>
        <p:txBody>
          <a:bodyPr wrap="square" rtlCol="0" anchor="ctr"/>
          <a:lstStyle/>
          <a:p>
            <a:pPr marL="0" indent="0">
              <a:buNone/>
            </a:pPr>
            <a:r>
              <a:rPr lang="en-US" sz="2000" b="1" dirty="0">
                <a:solidFill>
                  <a:srgbClr val="2D1B4E"/>
                </a:solidFill>
                <a:latin typeface="Calibri" pitchFamily="34" charset="0"/>
                <a:ea typeface="Calibri" pitchFamily="34" charset="-122"/>
                <a:cs typeface="Calibri" pitchFamily="34" charset="-120"/>
              </a:rPr>
              <a:t>Operations Copilot</a:t>
            </a:r>
            <a:endParaRPr lang="en-US" sz="2000" dirty="0"/>
          </a:p>
        </p:txBody>
      </p:sp>
      <p:sp>
        <p:nvSpPr>
          <p:cNvPr id="11" name="Text 9"/>
          <p:cNvSpPr/>
          <p:nvPr/>
        </p:nvSpPr>
        <p:spPr>
          <a:xfrm>
            <a:off x="3474720" y="914400"/>
            <a:ext cx="5029200" cy="457200"/>
          </a:xfrm>
          <a:prstGeom prst="rect">
            <a:avLst/>
          </a:prstGeom>
          <a:noFill/>
          <a:ln/>
        </p:spPr>
        <p:txBody>
          <a:bodyPr wrap="square" rtlCol="0" anchor="ctr"/>
          <a:lstStyle/>
          <a:p>
            <a:pPr marL="0" indent="0">
              <a:buNone/>
            </a:pPr>
            <a:r>
              <a:rPr lang="en-US" sz="1200" dirty="0">
                <a:solidFill>
                  <a:srgbClr val="666666"/>
                </a:solidFill>
                <a:latin typeface="Calibri" pitchFamily="34" charset="0"/>
                <a:ea typeface="Calibri" pitchFamily="34" charset="-122"/>
                <a:cs typeface="Calibri" pitchFamily="34" charset="-120"/>
              </a:rPr>
              <a:t>Future IBM AI integration for natural-language operator queries:</a:t>
            </a:r>
            <a:endParaRPr lang="en-US" sz="1200" dirty="0"/>
          </a:p>
        </p:txBody>
      </p:sp>
      <p:sp>
        <p:nvSpPr>
          <p:cNvPr id="12" name="Text 10"/>
          <p:cNvSpPr/>
          <p:nvPr/>
        </p:nvSpPr>
        <p:spPr>
          <a:xfrm>
            <a:off x="3474720" y="1417320"/>
            <a:ext cx="5029200" cy="411480"/>
          </a:xfrm>
          <a:prstGeom prst="rect">
            <a:avLst/>
          </a:prstGeom>
          <a:noFill/>
          <a:ln/>
        </p:spPr>
        <p:txBody>
          <a:bodyPr wrap="square" rtlCol="0" anchor="ctr"/>
          <a:lstStyle/>
          <a:p>
            <a:pPr marL="0" indent="0">
              <a:buNone/>
            </a:pPr>
            <a:r>
              <a:rPr lang="en-US" sz="1050" dirty="0">
                <a:solidFill>
                  <a:srgbClr val="2C2C2C"/>
                </a:solidFill>
                <a:latin typeface="Calibri" pitchFamily="34" charset="0"/>
                <a:ea typeface="Calibri" pitchFamily="34" charset="-122"/>
                <a:cs typeface="Calibri" pitchFamily="34" charset="-120"/>
              </a:rPr>
              <a:t>• "Why is Solar Farm 7 down 12% this week?"</a:t>
            </a:r>
            <a:endParaRPr lang="en-US" sz="1050" dirty="0"/>
          </a:p>
        </p:txBody>
      </p:sp>
      <p:sp>
        <p:nvSpPr>
          <p:cNvPr id="13" name="Text 11"/>
          <p:cNvSpPr/>
          <p:nvPr/>
        </p:nvSpPr>
        <p:spPr>
          <a:xfrm>
            <a:off x="3474720" y="1874520"/>
            <a:ext cx="5029200" cy="411480"/>
          </a:xfrm>
          <a:prstGeom prst="rect">
            <a:avLst/>
          </a:prstGeom>
          <a:noFill/>
          <a:ln/>
        </p:spPr>
        <p:txBody>
          <a:bodyPr wrap="square" rtlCol="0" anchor="ctr"/>
          <a:lstStyle/>
          <a:p>
            <a:pPr marL="0" indent="0">
              <a:buNone/>
            </a:pPr>
            <a:r>
              <a:rPr lang="en-US" sz="1050" dirty="0">
                <a:solidFill>
                  <a:srgbClr val="2C2C2C"/>
                </a:solidFill>
                <a:latin typeface="Calibri" pitchFamily="34" charset="0"/>
                <a:ea typeface="Calibri" pitchFamily="34" charset="-122"/>
                <a:cs typeface="Calibri" pitchFamily="34" charset="-120"/>
              </a:rPr>
              <a:t>• "Which dispatch action gives the most curtailment reduction?"</a:t>
            </a:r>
            <a:endParaRPr lang="en-US" sz="1050" dirty="0"/>
          </a:p>
        </p:txBody>
      </p:sp>
      <p:sp>
        <p:nvSpPr>
          <p:cNvPr id="14" name="Text 12"/>
          <p:cNvSpPr/>
          <p:nvPr/>
        </p:nvSpPr>
        <p:spPr>
          <a:xfrm>
            <a:off x="3474720" y="2331720"/>
            <a:ext cx="5029200" cy="411480"/>
          </a:xfrm>
          <a:prstGeom prst="rect">
            <a:avLst/>
          </a:prstGeom>
          <a:noFill/>
          <a:ln/>
        </p:spPr>
        <p:txBody>
          <a:bodyPr wrap="square" rtlCol="0" anchor="ctr"/>
          <a:lstStyle/>
          <a:p>
            <a:pPr marL="0" indent="0">
              <a:buNone/>
            </a:pPr>
            <a:r>
              <a:rPr lang="en-US" sz="1050" dirty="0">
                <a:solidFill>
                  <a:srgbClr val="2C2C2C"/>
                </a:solidFill>
                <a:latin typeface="Calibri" pitchFamily="34" charset="0"/>
                <a:ea typeface="Calibri" pitchFamily="34" charset="-122"/>
                <a:cs typeface="Calibri" pitchFamily="34" charset="-120"/>
              </a:rPr>
              <a:t>• "Explain the spike confidence for Thursday 5 PM"</a:t>
            </a:r>
            <a:endParaRPr lang="en-US" sz="1050" dirty="0"/>
          </a:p>
        </p:txBody>
      </p:sp>
      <p:sp>
        <p:nvSpPr>
          <p:cNvPr id="15" name="Text 13"/>
          <p:cNvSpPr/>
          <p:nvPr/>
        </p:nvSpPr>
        <p:spPr>
          <a:xfrm>
            <a:off x="3474720" y="2788920"/>
            <a:ext cx="5029200" cy="411480"/>
          </a:xfrm>
          <a:prstGeom prst="rect">
            <a:avLst/>
          </a:prstGeom>
          <a:noFill/>
          <a:ln/>
        </p:spPr>
        <p:txBody>
          <a:bodyPr wrap="square" rtlCol="0" anchor="ctr"/>
          <a:lstStyle/>
          <a:p>
            <a:pPr marL="0" indent="0">
              <a:buNone/>
            </a:pPr>
            <a:r>
              <a:rPr lang="en-US" sz="1050" dirty="0">
                <a:solidFill>
                  <a:srgbClr val="2C2C2C"/>
                </a:solidFill>
                <a:latin typeface="Calibri" pitchFamily="34" charset="0"/>
                <a:ea typeface="Calibri" pitchFamily="34" charset="-122"/>
                <a:cs typeface="Calibri" pitchFamily="34" charset="-120"/>
              </a:rPr>
              <a:t>• Rule-based MVP powered by live risk backend data</a:t>
            </a:r>
            <a:endParaRPr lang="en-US" sz="1050" dirty="0"/>
          </a:p>
        </p:txBody>
      </p:sp>
      <p:sp>
        <p:nvSpPr>
          <p:cNvPr id="16" name="Shape 14"/>
          <p:cNvSpPr/>
          <p:nvPr/>
        </p:nvSpPr>
        <p:spPr>
          <a:xfrm>
            <a:off x="3474720" y="3406140"/>
            <a:ext cx="5029200" cy="1051560"/>
          </a:xfrm>
          <a:prstGeom prst="rect">
            <a:avLst/>
          </a:prstGeom>
          <a:solidFill>
            <a:srgbClr val="FFFACD"/>
          </a:solidFill>
          <a:ln w="12700">
            <a:solidFill>
              <a:srgbClr val="4A90E2"/>
            </a:solidFill>
            <a:prstDash val="solid"/>
          </a:ln>
        </p:spPr>
        <p:txBody>
          <a:bodyPr/>
          <a:lstStyle/>
          <a:p>
            <a:endParaRPr lang="en-IN" dirty="0"/>
          </a:p>
        </p:txBody>
      </p:sp>
      <p:sp>
        <p:nvSpPr>
          <p:cNvPr id="17" name="Text 15"/>
          <p:cNvSpPr/>
          <p:nvPr/>
        </p:nvSpPr>
        <p:spPr>
          <a:xfrm>
            <a:off x="3657600" y="3523957"/>
            <a:ext cx="4663440" cy="182880"/>
          </a:xfrm>
          <a:prstGeom prst="rect">
            <a:avLst/>
          </a:prstGeom>
          <a:noFill/>
          <a:ln/>
        </p:spPr>
        <p:txBody>
          <a:bodyPr wrap="square" rtlCol="0" anchor="ctr"/>
          <a:lstStyle/>
          <a:p>
            <a:pPr marL="0" indent="0">
              <a:buNone/>
            </a:pPr>
            <a:r>
              <a:rPr lang="en-US" sz="1200" b="1" dirty="0">
                <a:solidFill>
                  <a:srgbClr val="2D1B4E"/>
                </a:solidFill>
                <a:latin typeface="Calibri" pitchFamily="34" charset="0"/>
                <a:ea typeface="Calibri" pitchFamily="34" charset="-122"/>
                <a:cs typeface="Calibri" pitchFamily="34" charset="-120"/>
              </a:rPr>
              <a:t>How IBM Tech Made a Difference:</a:t>
            </a:r>
            <a:endParaRPr lang="en-US" sz="1200" dirty="0"/>
          </a:p>
        </p:txBody>
      </p:sp>
      <p:sp>
        <p:nvSpPr>
          <p:cNvPr id="18" name="Text 16"/>
          <p:cNvSpPr/>
          <p:nvPr/>
        </p:nvSpPr>
        <p:spPr>
          <a:xfrm>
            <a:off x="3657600" y="3706837"/>
            <a:ext cx="4663440" cy="640080"/>
          </a:xfrm>
          <a:prstGeom prst="rect">
            <a:avLst/>
          </a:prstGeom>
          <a:noFill/>
          <a:ln/>
        </p:spPr>
        <p:txBody>
          <a:bodyPr wrap="square" rtlCol="0" anchor="ctr"/>
          <a:lstStyle/>
          <a:p>
            <a:pPr marL="0" indent="0">
              <a:buNone/>
            </a:pPr>
            <a:r>
              <a:rPr lang="en-US" sz="1050" dirty="0">
                <a:solidFill>
                  <a:srgbClr val="2C2C2C"/>
                </a:solidFill>
                <a:latin typeface="Calibri" pitchFamily="34" charset="0"/>
                <a:ea typeface="Calibri" pitchFamily="34" charset="-122"/>
                <a:cs typeface="Calibri" pitchFamily="34" charset="-120"/>
              </a:rPr>
              <a:t>IBM Bob cut frontend + backend development time by ~30% through iterative code suggestions, enabling faster prototyping and faster refinement cycles for LangGraph topology and FastAPI endpoints.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400" b="1" dirty="0">
                <a:solidFill>
                  <a:srgbClr val="2D1B4E"/>
                </a:solidFill>
                <a:latin typeface="Calibri" pitchFamily="34" charset="0"/>
                <a:ea typeface="Calibri" pitchFamily="34" charset="-122"/>
                <a:cs typeface="Calibri" pitchFamily="34" charset="-120"/>
              </a:rPr>
              <a:t>Results &amp; Impact</a:t>
            </a:r>
            <a:endParaRPr lang="en-US" sz="4400" dirty="0"/>
          </a:p>
        </p:txBody>
      </p:sp>
      <p:sp>
        <p:nvSpPr>
          <p:cNvPr id="3" name="Text 1"/>
          <p:cNvSpPr/>
          <p:nvPr/>
        </p:nvSpPr>
        <p:spPr>
          <a:xfrm>
            <a:off x="457200" y="1005840"/>
            <a:ext cx="8229600" cy="274320"/>
          </a:xfrm>
          <a:prstGeom prst="rect">
            <a:avLst/>
          </a:prstGeom>
          <a:noFill/>
          <a:ln/>
        </p:spPr>
        <p:txBody>
          <a:bodyPr wrap="square" rtlCol="0" anchor="ctr"/>
          <a:lstStyle/>
          <a:p>
            <a:pPr marL="0" indent="0">
              <a:buNone/>
            </a:pPr>
            <a:r>
              <a:rPr lang="en-US" sz="1300" b="1" dirty="0">
                <a:solidFill>
                  <a:srgbClr val="6B4C9A"/>
                </a:solidFill>
                <a:latin typeface="Calibri" pitchFamily="34" charset="0"/>
                <a:ea typeface="Calibri" pitchFamily="34" charset="-122"/>
                <a:cs typeface="Calibri" pitchFamily="34" charset="-120"/>
              </a:rPr>
              <a:t>Success Metrics Achieved</a:t>
            </a:r>
            <a:endParaRPr lang="en-US" sz="1300" dirty="0"/>
          </a:p>
        </p:txBody>
      </p:sp>
      <p:sp>
        <p:nvSpPr>
          <p:cNvPr id="4" name="Shape 2"/>
          <p:cNvSpPr/>
          <p:nvPr/>
        </p:nvSpPr>
        <p:spPr>
          <a:xfrm>
            <a:off x="457200" y="1417320"/>
            <a:ext cx="2606040" cy="1508760"/>
          </a:xfrm>
          <a:prstGeom prst="rect">
            <a:avLst/>
          </a:prstGeom>
          <a:solidFill>
            <a:srgbClr val="E8DFF5"/>
          </a:solidFill>
          <a:ln w="12700">
            <a:solidFill>
              <a:srgbClr val="6B4C9A"/>
            </a:solidFill>
            <a:prstDash val="solid"/>
          </a:ln>
        </p:spPr>
      </p:sp>
      <p:sp>
        <p:nvSpPr>
          <p:cNvPr id="5" name="Text 3"/>
          <p:cNvSpPr/>
          <p:nvPr/>
        </p:nvSpPr>
        <p:spPr>
          <a:xfrm>
            <a:off x="594360" y="1554480"/>
            <a:ext cx="2331720" cy="411480"/>
          </a:xfrm>
          <a:prstGeom prst="rect">
            <a:avLst/>
          </a:prstGeom>
          <a:noFill/>
          <a:ln/>
        </p:spPr>
        <p:txBody>
          <a:bodyPr wrap="square" rtlCol="0" anchor="ctr"/>
          <a:lstStyle/>
          <a:p>
            <a:pPr marL="0" indent="0" algn="ctr">
              <a:buNone/>
            </a:pPr>
            <a:r>
              <a:rPr lang="en-US" sz="2400" b="1" dirty="0">
                <a:solidFill>
                  <a:srgbClr val="4A90E2"/>
                </a:solidFill>
                <a:latin typeface="Calibri" pitchFamily="34" charset="0"/>
                <a:ea typeface="Calibri" pitchFamily="34" charset="-122"/>
                <a:cs typeface="Calibri" pitchFamily="34" charset="-120"/>
              </a:rPr>
              <a:t>3.4%</a:t>
            </a:r>
            <a:endParaRPr lang="en-US" sz="2400" dirty="0"/>
          </a:p>
        </p:txBody>
      </p:sp>
      <p:sp>
        <p:nvSpPr>
          <p:cNvPr id="6" name="Text 4"/>
          <p:cNvSpPr/>
          <p:nvPr/>
        </p:nvSpPr>
        <p:spPr>
          <a:xfrm>
            <a:off x="594360" y="1965960"/>
            <a:ext cx="2331720" cy="365760"/>
          </a:xfrm>
          <a:prstGeom prst="rect">
            <a:avLst/>
          </a:prstGeom>
          <a:noFill/>
          <a:ln/>
        </p:spPr>
        <p:txBody>
          <a:bodyPr wrap="square" rtlCol="0" anchor="ctr"/>
          <a:lstStyle/>
          <a:p>
            <a:pPr marL="0" indent="0" algn="ctr">
              <a:buNone/>
            </a:pPr>
            <a:r>
              <a:rPr lang="en-US" sz="1050" b="1" dirty="0">
                <a:solidFill>
                  <a:srgbClr val="2D1B4E"/>
                </a:solidFill>
                <a:latin typeface="Calibri" pitchFamily="34" charset="0"/>
                <a:ea typeface="Calibri" pitchFamily="34" charset="-122"/>
                <a:cs typeface="Calibri" pitchFamily="34" charset="-120"/>
              </a:rPr>
              <a:t>Demand Forecast MAPE (24h)</a:t>
            </a:r>
            <a:endParaRPr lang="en-US" sz="1050" dirty="0"/>
          </a:p>
        </p:txBody>
      </p:sp>
      <p:sp>
        <p:nvSpPr>
          <p:cNvPr id="7" name="Text 5"/>
          <p:cNvSpPr/>
          <p:nvPr/>
        </p:nvSpPr>
        <p:spPr>
          <a:xfrm>
            <a:off x="594360" y="2331720"/>
            <a:ext cx="2331720" cy="502920"/>
          </a:xfrm>
          <a:prstGeom prst="rect">
            <a:avLst/>
          </a:prstGeom>
          <a:noFill/>
          <a:ln/>
        </p:spPr>
        <p:txBody>
          <a:bodyPr wrap="square" rtlCol="0" anchor="ctr"/>
          <a:lstStyle/>
          <a:p>
            <a:pPr marL="0" indent="0" algn="ctr">
              <a:buNone/>
            </a:pPr>
            <a:r>
              <a:rPr lang="en-US" sz="900" dirty="0">
                <a:solidFill>
                  <a:srgbClr val="666666"/>
                </a:solidFill>
                <a:latin typeface="Calibri" pitchFamily="34" charset="0"/>
                <a:ea typeface="Calibri" pitchFamily="34" charset="-122"/>
                <a:cs typeface="Calibri" pitchFamily="34" charset="-120"/>
              </a:rPr>
              <a:t>✓ Target: ≤3.5%</a:t>
            </a:r>
            <a:endParaRPr lang="en-US" sz="900" dirty="0"/>
          </a:p>
        </p:txBody>
      </p:sp>
      <p:sp>
        <p:nvSpPr>
          <p:cNvPr id="8" name="Shape 6"/>
          <p:cNvSpPr/>
          <p:nvPr/>
        </p:nvSpPr>
        <p:spPr>
          <a:xfrm>
            <a:off x="3200400" y="1417320"/>
            <a:ext cx="2606040" cy="1508760"/>
          </a:xfrm>
          <a:prstGeom prst="rect">
            <a:avLst/>
          </a:prstGeom>
          <a:solidFill>
            <a:srgbClr val="E8DFF5"/>
          </a:solidFill>
          <a:ln w="12700">
            <a:solidFill>
              <a:srgbClr val="6B4C9A"/>
            </a:solidFill>
            <a:prstDash val="solid"/>
          </a:ln>
        </p:spPr>
      </p:sp>
      <p:sp>
        <p:nvSpPr>
          <p:cNvPr id="9" name="Text 7"/>
          <p:cNvSpPr/>
          <p:nvPr/>
        </p:nvSpPr>
        <p:spPr>
          <a:xfrm>
            <a:off x="3337560" y="1554480"/>
            <a:ext cx="2331720" cy="411480"/>
          </a:xfrm>
          <a:prstGeom prst="rect">
            <a:avLst/>
          </a:prstGeom>
          <a:noFill/>
          <a:ln/>
        </p:spPr>
        <p:txBody>
          <a:bodyPr wrap="square" rtlCol="0" anchor="ctr"/>
          <a:lstStyle/>
          <a:p>
            <a:pPr marL="0" indent="0" algn="ctr">
              <a:buNone/>
            </a:pPr>
            <a:r>
              <a:rPr lang="en-US" sz="2400" b="1" dirty="0">
                <a:solidFill>
                  <a:srgbClr val="4A90E2"/>
                </a:solidFill>
                <a:latin typeface="Calibri" pitchFamily="34" charset="0"/>
                <a:ea typeface="Calibri" pitchFamily="34" charset="-122"/>
                <a:cs typeface="Calibri" pitchFamily="34" charset="-120"/>
              </a:rPr>
              <a:t>0.85+</a:t>
            </a:r>
            <a:endParaRPr lang="en-US" sz="2400" dirty="0"/>
          </a:p>
        </p:txBody>
      </p:sp>
      <p:sp>
        <p:nvSpPr>
          <p:cNvPr id="10" name="Text 8"/>
          <p:cNvSpPr/>
          <p:nvPr/>
        </p:nvSpPr>
        <p:spPr>
          <a:xfrm>
            <a:off x="3337560" y="1965960"/>
            <a:ext cx="2331720" cy="365760"/>
          </a:xfrm>
          <a:prstGeom prst="rect">
            <a:avLst/>
          </a:prstGeom>
          <a:noFill/>
          <a:ln/>
        </p:spPr>
        <p:txBody>
          <a:bodyPr wrap="square" rtlCol="0" anchor="ctr"/>
          <a:lstStyle/>
          <a:p>
            <a:pPr marL="0" indent="0" algn="ctr">
              <a:buNone/>
            </a:pPr>
            <a:r>
              <a:rPr lang="en-US" sz="1050" b="1" dirty="0">
                <a:solidFill>
                  <a:srgbClr val="2D1B4E"/>
                </a:solidFill>
                <a:latin typeface="Calibri" pitchFamily="34" charset="0"/>
                <a:ea typeface="Calibri" pitchFamily="34" charset="-122"/>
                <a:cs typeface="Calibri" pitchFamily="34" charset="-120"/>
              </a:rPr>
              <a:t>Spike Detection F1</a:t>
            </a:r>
            <a:endParaRPr lang="en-US" sz="1050" dirty="0"/>
          </a:p>
        </p:txBody>
      </p:sp>
      <p:sp>
        <p:nvSpPr>
          <p:cNvPr id="11" name="Text 9"/>
          <p:cNvSpPr/>
          <p:nvPr/>
        </p:nvSpPr>
        <p:spPr>
          <a:xfrm>
            <a:off x="3337560" y="2331720"/>
            <a:ext cx="2331720" cy="502920"/>
          </a:xfrm>
          <a:prstGeom prst="rect">
            <a:avLst/>
          </a:prstGeom>
          <a:noFill/>
          <a:ln/>
        </p:spPr>
        <p:txBody>
          <a:bodyPr wrap="square" rtlCol="0" anchor="ctr"/>
          <a:lstStyle/>
          <a:p>
            <a:pPr marL="0" indent="0" algn="ctr">
              <a:buNone/>
            </a:pPr>
            <a:r>
              <a:rPr lang="en-US" sz="900" dirty="0">
                <a:solidFill>
                  <a:srgbClr val="666666"/>
                </a:solidFill>
                <a:latin typeface="Calibri" pitchFamily="34" charset="0"/>
                <a:ea typeface="Calibri" pitchFamily="34" charset="-122"/>
                <a:cs typeface="Calibri" pitchFamily="34" charset="-120"/>
              </a:rPr>
              <a:t>✓ Recall ≥0.85, Precision ≥0.70</a:t>
            </a:r>
            <a:endParaRPr lang="en-US" sz="900" dirty="0"/>
          </a:p>
        </p:txBody>
      </p:sp>
      <p:sp>
        <p:nvSpPr>
          <p:cNvPr id="12" name="Shape 10"/>
          <p:cNvSpPr/>
          <p:nvPr/>
        </p:nvSpPr>
        <p:spPr>
          <a:xfrm>
            <a:off x="5943600" y="1417320"/>
            <a:ext cx="2606040" cy="1508760"/>
          </a:xfrm>
          <a:prstGeom prst="rect">
            <a:avLst/>
          </a:prstGeom>
          <a:solidFill>
            <a:srgbClr val="E8DFF5"/>
          </a:solidFill>
          <a:ln w="12700">
            <a:solidFill>
              <a:srgbClr val="6B4C9A"/>
            </a:solidFill>
            <a:prstDash val="solid"/>
          </a:ln>
        </p:spPr>
        <p:txBody>
          <a:bodyPr/>
          <a:lstStyle/>
          <a:p>
            <a:endParaRPr lang="en-IN" dirty="0"/>
          </a:p>
        </p:txBody>
      </p:sp>
      <p:sp>
        <p:nvSpPr>
          <p:cNvPr id="13" name="Text 11"/>
          <p:cNvSpPr/>
          <p:nvPr/>
        </p:nvSpPr>
        <p:spPr>
          <a:xfrm>
            <a:off x="6080760" y="1554480"/>
            <a:ext cx="2331720" cy="411480"/>
          </a:xfrm>
          <a:prstGeom prst="rect">
            <a:avLst/>
          </a:prstGeom>
          <a:noFill/>
          <a:ln/>
        </p:spPr>
        <p:txBody>
          <a:bodyPr wrap="square" rtlCol="0" anchor="ctr"/>
          <a:lstStyle/>
          <a:p>
            <a:pPr marL="0" indent="0" algn="ctr">
              <a:buNone/>
            </a:pPr>
            <a:r>
              <a:rPr lang="en-US" sz="2400" b="1" dirty="0">
                <a:solidFill>
                  <a:srgbClr val="4A90E2"/>
                </a:solidFill>
                <a:latin typeface="Calibri" pitchFamily="34" charset="0"/>
                <a:ea typeface="Calibri" pitchFamily="34" charset="-122"/>
                <a:cs typeface="Calibri" pitchFamily="34" charset="-120"/>
              </a:rPr>
              <a:t>0.83</a:t>
            </a:r>
            <a:endParaRPr lang="en-US" sz="2400" dirty="0"/>
          </a:p>
        </p:txBody>
      </p:sp>
      <p:sp>
        <p:nvSpPr>
          <p:cNvPr id="14" name="Text 12"/>
          <p:cNvSpPr/>
          <p:nvPr/>
        </p:nvSpPr>
        <p:spPr>
          <a:xfrm>
            <a:off x="6080760" y="1965960"/>
            <a:ext cx="2331720" cy="365760"/>
          </a:xfrm>
          <a:prstGeom prst="rect">
            <a:avLst/>
          </a:prstGeom>
          <a:noFill/>
          <a:ln/>
        </p:spPr>
        <p:txBody>
          <a:bodyPr wrap="square" rtlCol="0" anchor="ctr"/>
          <a:lstStyle/>
          <a:p>
            <a:pPr marL="0" indent="0" algn="ctr">
              <a:buNone/>
            </a:pPr>
            <a:r>
              <a:rPr lang="en-US" sz="1050" b="1" dirty="0">
                <a:solidFill>
                  <a:srgbClr val="2D1B4E"/>
                </a:solidFill>
                <a:latin typeface="Calibri" pitchFamily="34" charset="0"/>
                <a:ea typeface="Calibri" pitchFamily="34" charset="-122"/>
                <a:cs typeface="Calibri" pitchFamily="34" charset="-120"/>
              </a:rPr>
              <a:t>Fault Detection F1</a:t>
            </a:r>
            <a:endParaRPr lang="en-US" sz="1050" dirty="0"/>
          </a:p>
        </p:txBody>
      </p:sp>
      <p:sp>
        <p:nvSpPr>
          <p:cNvPr id="15" name="Text 13"/>
          <p:cNvSpPr/>
          <p:nvPr/>
        </p:nvSpPr>
        <p:spPr>
          <a:xfrm>
            <a:off x="6080760" y="2331720"/>
            <a:ext cx="2331720" cy="502920"/>
          </a:xfrm>
          <a:prstGeom prst="rect">
            <a:avLst/>
          </a:prstGeom>
          <a:noFill/>
          <a:ln/>
        </p:spPr>
        <p:txBody>
          <a:bodyPr wrap="square" rtlCol="0" anchor="ctr"/>
          <a:lstStyle/>
          <a:p>
            <a:pPr marL="0" indent="0" algn="ctr">
              <a:buNone/>
            </a:pPr>
            <a:r>
              <a:rPr lang="en-US" sz="900" dirty="0">
                <a:solidFill>
                  <a:srgbClr val="666666"/>
                </a:solidFill>
                <a:latin typeface="Calibri" pitchFamily="34" charset="0"/>
                <a:ea typeface="Calibri" pitchFamily="34" charset="-122"/>
                <a:cs typeface="Calibri" pitchFamily="34" charset="-120"/>
              </a:rPr>
              <a:t>✓ On synthetic fault set</a:t>
            </a:r>
            <a:endParaRPr lang="en-US" sz="900" dirty="0"/>
          </a:p>
        </p:txBody>
      </p:sp>
      <p:sp>
        <p:nvSpPr>
          <p:cNvPr id="16" name="Shape 14"/>
          <p:cNvSpPr/>
          <p:nvPr/>
        </p:nvSpPr>
        <p:spPr>
          <a:xfrm>
            <a:off x="457200" y="3063240"/>
            <a:ext cx="2606040" cy="1508760"/>
          </a:xfrm>
          <a:prstGeom prst="rect">
            <a:avLst/>
          </a:prstGeom>
          <a:solidFill>
            <a:srgbClr val="E8DFF5"/>
          </a:solidFill>
          <a:ln w="12700">
            <a:solidFill>
              <a:srgbClr val="6B4C9A"/>
            </a:solidFill>
            <a:prstDash val="solid"/>
          </a:ln>
        </p:spPr>
      </p:sp>
      <p:sp>
        <p:nvSpPr>
          <p:cNvPr id="17" name="Text 15"/>
          <p:cNvSpPr/>
          <p:nvPr/>
        </p:nvSpPr>
        <p:spPr>
          <a:xfrm>
            <a:off x="594360" y="3200400"/>
            <a:ext cx="2331720" cy="411480"/>
          </a:xfrm>
          <a:prstGeom prst="rect">
            <a:avLst/>
          </a:prstGeom>
          <a:noFill/>
          <a:ln/>
        </p:spPr>
        <p:txBody>
          <a:bodyPr wrap="square" rtlCol="0" anchor="ctr"/>
          <a:lstStyle/>
          <a:p>
            <a:pPr marL="0" indent="0" algn="ctr">
              <a:buNone/>
            </a:pPr>
            <a:r>
              <a:rPr lang="en-US" sz="2400" b="1" dirty="0">
                <a:solidFill>
                  <a:srgbClr val="4A90E2"/>
                </a:solidFill>
                <a:latin typeface="Calibri" pitchFamily="34" charset="0"/>
                <a:ea typeface="Calibri" pitchFamily="34" charset="-122"/>
                <a:cs typeface="Calibri" pitchFamily="34" charset="-120"/>
              </a:rPr>
              <a:t>27%</a:t>
            </a:r>
            <a:endParaRPr lang="en-US" sz="2400" dirty="0"/>
          </a:p>
        </p:txBody>
      </p:sp>
      <p:sp>
        <p:nvSpPr>
          <p:cNvPr id="18" name="Text 16"/>
          <p:cNvSpPr/>
          <p:nvPr/>
        </p:nvSpPr>
        <p:spPr>
          <a:xfrm>
            <a:off x="594360" y="3611880"/>
            <a:ext cx="2331720" cy="365760"/>
          </a:xfrm>
          <a:prstGeom prst="rect">
            <a:avLst/>
          </a:prstGeom>
          <a:noFill/>
          <a:ln/>
        </p:spPr>
        <p:txBody>
          <a:bodyPr wrap="square" rtlCol="0" anchor="ctr"/>
          <a:lstStyle/>
          <a:p>
            <a:pPr marL="0" indent="0" algn="ctr">
              <a:buNone/>
            </a:pPr>
            <a:r>
              <a:rPr lang="en-US" sz="1050" b="1" dirty="0">
                <a:solidFill>
                  <a:srgbClr val="2D1B4E"/>
                </a:solidFill>
                <a:latin typeface="Calibri" pitchFamily="34" charset="0"/>
                <a:ea typeface="Calibri" pitchFamily="34" charset="-122"/>
                <a:cs typeface="Calibri" pitchFamily="34" charset="-120"/>
              </a:rPr>
              <a:t>Curtailment Reduction</a:t>
            </a:r>
            <a:endParaRPr lang="en-US" sz="1050" dirty="0"/>
          </a:p>
        </p:txBody>
      </p:sp>
      <p:sp>
        <p:nvSpPr>
          <p:cNvPr id="19" name="Text 17"/>
          <p:cNvSpPr/>
          <p:nvPr/>
        </p:nvSpPr>
        <p:spPr>
          <a:xfrm>
            <a:off x="594360" y="3977640"/>
            <a:ext cx="2331720" cy="502920"/>
          </a:xfrm>
          <a:prstGeom prst="rect">
            <a:avLst/>
          </a:prstGeom>
          <a:noFill/>
          <a:ln/>
        </p:spPr>
        <p:txBody>
          <a:bodyPr wrap="square"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 vs Business-as-Usual</a:t>
            </a:r>
            <a:endParaRPr lang="en-US" sz="800" dirty="0"/>
          </a:p>
        </p:txBody>
      </p:sp>
      <p:sp>
        <p:nvSpPr>
          <p:cNvPr id="20" name="Shape 18"/>
          <p:cNvSpPr/>
          <p:nvPr/>
        </p:nvSpPr>
        <p:spPr>
          <a:xfrm>
            <a:off x="3200400" y="3063240"/>
            <a:ext cx="2606040" cy="1508760"/>
          </a:xfrm>
          <a:prstGeom prst="rect">
            <a:avLst/>
          </a:prstGeom>
          <a:solidFill>
            <a:srgbClr val="E8DFF5"/>
          </a:solidFill>
          <a:ln w="12700">
            <a:solidFill>
              <a:srgbClr val="6B4C9A"/>
            </a:solidFill>
            <a:prstDash val="solid"/>
          </a:ln>
        </p:spPr>
      </p:sp>
      <p:sp>
        <p:nvSpPr>
          <p:cNvPr id="21" name="Text 19"/>
          <p:cNvSpPr/>
          <p:nvPr/>
        </p:nvSpPr>
        <p:spPr>
          <a:xfrm>
            <a:off x="3337560" y="3200400"/>
            <a:ext cx="2331720" cy="411480"/>
          </a:xfrm>
          <a:prstGeom prst="rect">
            <a:avLst/>
          </a:prstGeom>
          <a:noFill/>
          <a:ln/>
        </p:spPr>
        <p:txBody>
          <a:bodyPr wrap="square" rtlCol="0" anchor="ctr"/>
          <a:lstStyle/>
          <a:p>
            <a:pPr marL="0" indent="0" algn="ctr">
              <a:buNone/>
            </a:pPr>
            <a:r>
              <a:rPr lang="en-US" sz="2400" b="1" dirty="0">
                <a:solidFill>
                  <a:srgbClr val="4A90E2"/>
                </a:solidFill>
                <a:latin typeface="Calibri" pitchFamily="34" charset="0"/>
                <a:ea typeface="Calibri" pitchFamily="34" charset="-122"/>
                <a:cs typeface="Calibri" pitchFamily="34" charset="-120"/>
              </a:rPr>
              <a:t>&lt;90s</a:t>
            </a:r>
            <a:endParaRPr lang="en-US" sz="2400" dirty="0"/>
          </a:p>
        </p:txBody>
      </p:sp>
      <p:sp>
        <p:nvSpPr>
          <p:cNvPr id="22" name="Text 20"/>
          <p:cNvSpPr/>
          <p:nvPr/>
        </p:nvSpPr>
        <p:spPr>
          <a:xfrm>
            <a:off x="3337560" y="3611880"/>
            <a:ext cx="2331720" cy="365760"/>
          </a:xfrm>
          <a:prstGeom prst="rect">
            <a:avLst/>
          </a:prstGeom>
          <a:noFill/>
          <a:ln/>
        </p:spPr>
        <p:txBody>
          <a:bodyPr wrap="square" rtlCol="0" anchor="ctr"/>
          <a:lstStyle/>
          <a:p>
            <a:pPr marL="0" indent="0" algn="ctr">
              <a:buNone/>
            </a:pPr>
            <a:r>
              <a:rPr lang="en-US" sz="1050" b="1" dirty="0">
                <a:solidFill>
                  <a:srgbClr val="2D1B4E"/>
                </a:solidFill>
                <a:latin typeface="Calibri" pitchFamily="34" charset="0"/>
                <a:ea typeface="Calibri" pitchFamily="34" charset="-122"/>
                <a:cs typeface="Calibri" pitchFamily="34" charset="-120"/>
              </a:rPr>
              <a:t>End-to-End Latency</a:t>
            </a:r>
            <a:endParaRPr lang="en-US" sz="1050" dirty="0"/>
          </a:p>
        </p:txBody>
      </p:sp>
      <p:sp>
        <p:nvSpPr>
          <p:cNvPr id="23" name="Text 21"/>
          <p:cNvSpPr/>
          <p:nvPr/>
        </p:nvSpPr>
        <p:spPr>
          <a:xfrm>
            <a:off x="3337560" y="3977640"/>
            <a:ext cx="2331720" cy="502920"/>
          </a:xfrm>
          <a:prstGeom prst="rect">
            <a:avLst/>
          </a:prstGeom>
          <a:noFill/>
          <a:ln/>
        </p:spPr>
        <p:txBody>
          <a:bodyPr wrap="square"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 p95, local hardware</a:t>
            </a:r>
            <a:endParaRPr lang="en-US" sz="800" dirty="0"/>
          </a:p>
        </p:txBody>
      </p:sp>
      <p:sp>
        <p:nvSpPr>
          <p:cNvPr id="24" name="Shape 22"/>
          <p:cNvSpPr/>
          <p:nvPr/>
        </p:nvSpPr>
        <p:spPr>
          <a:xfrm>
            <a:off x="5943600" y="3063240"/>
            <a:ext cx="2606040" cy="1508760"/>
          </a:xfrm>
          <a:prstGeom prst="rect">
            <a:avLst/>
          </a:prstGeom>
          <a:solidFill>
            <a:srgbClr val="E8DFF5"/>
          </a:solidFill>
          <a:ln w="12700">
            <a:solidFill>
              <a:srgbClr val="6B4C9A"/>
            </a:solidFill>
            <a:prstDash val="solid"/>
          </a:ln>
        </p:spPr>
      </p:sp>
      <p:sp>
        <p:nvSpPr>
          <p:cNvPr id="25" name="Text 23"/>
          <p:cNvSpPr/>
          <p:nvPr/>
        </p:nvSpPr>
        <p:spPr>
          <a:xfrm>
            <a:off x="6080760" y="3200400"/>
            <a:ext cx="2331720" cy="411480"/>
          </a:xfrm>
          <a:prstGeom prst="rect">
            <a:avLst/>
          </a:prstGeom>
          <a:noFill/>
          <a:ln/>
        </p:spPr>
        <p:txBody>
          <a:bodyPr wrap="square" rtlCol="0" anchor="ctr"/>
          <a:lstStyle/>
          <a:p>
            <a:pPr marL="0" indent="0" algn="ctr">
              <a:buNone/>
            </a:pPr>
            <a:r>
              <a:rPr lang="en-US" sz="2400" b="1" dirty="0">
                <a:solidFill>
                  <a:srgbClr val="4A90E2"/>
                </a:solidFill>
                <a:latin typeface="Calibri" pitchFamily="34" charset="0"/>
                <a:ea typeface="Calibri" pitchFamily="34" charset="-122"/>
                <a:cs typeface="Calibri" pitchFamily="34" charset="-120"/>
              </a:rPr>
              <a:t>97%</a:t>
            </a:r>
            <a:endParaRPr lang="en-US" sz="2400" dirty="0"/>
          </a:p>
        </p:txBody>
      </p:sp>
      <p:sp>
        <p:nvSpPr>
          <p:cNvPr id="26" name="Text 24"/>
          <p:cNvSpPr/>
          <p:nvPr/>
        </p:nvSpPr>
        <p:spPr>
          <a:xfrm>
            <a:off x="6080760" y="3611880"/>
            <a:ext cx="2331720" cy="365760"/>
          </a:xfrm>
          <a:prstGeom prst="rect">
            <a:avLst/>
          </a:prstGeom>
          <a:noFill/>
          <a:ln/>
        </p:spPr>
        <p:txBody>
          <a:bodyPr wrap="square" rtlCol="0" anchor="ctr"/>
          <a:lstStyle/>
          <a:p>
            <a:pPr marL="0" indent="0" algn="ctr">
              <a:buNone/>
            </a:pPr>
            <a:r>
              <a:rPr lang="en-US" sz="1050" b="1" dirty="0">
                <a:solidFill>
                  <a:srgbClr val="2D1B4E"/>
                </a:solidFill>
                <a:latin typeface="Calibri" pitchFamily="34" charset="0"/>
                <a:ea typeface="Calibri" pitchFamily="34" charset="-122"/>
                <a:cs typeface="Calibri" pitchFamily="34" charset="-120"/>
              </a:rPr>
              <a:t>Grounded Claims</a:t>
            </a:r>
            <a:endParaRPr lang="en-US" sz="1050" dirty="0"/>
          </a:p>
        </p:txBody>
      </p:sp>
      <p:sp>
        <p:nvSpPr>
          <p:cNvPr id="27" name="Text 25"/>
          <p:cNvSpPr/>
          <p:nvPr/>
        </p:nvSpPr>
        <p:spPr>
          <a:xfrm>
            <a:off x="6080760" y="3977640"/>
            <a:ext cx="2331720" cy="502920"/>
          </a:xfrm>
          <a:prstGeom prst="rect">
            <a:avLst/>
          </a:prstGeom>
          <a:noFill/>
          <a:ln/>
        </p:spPr>
        <p:txBody>
          <a:bodyPr wrap="square" rtlCol="0" anchor="ctr"/>
          <a:lstStyle/>
          <a:p>
            <a:pPr marL="0" indent="0" algn="ctr">
              <a:buNone/>
            </a:pPr>
            <a:r>
              <a:rPr lang="en-US" sz="800" dirty="0">
                <a:solidFill>
                  <a:srgbClr val="666666"/>
                </a:solidFill>
                <a:latin typeface="Calibri" pitchFamily="34" charset="0"/>
                <a:ea typeface="Calibri" pitchFamily="34" charset="-122"/>
                <a:cs typeface="Calibri" pitchFamily="34" charset="-120"/>
              </a:rPr>
              <a:t>✓ Critic-verified</a:t>
            </a:r>
            <a:endParaRPr lang="en-US" sz="800" dirty="0"/>
          </a:p>
        </p:txBody>
      </p:sp>
      <p:sp>
        <p:nvSpPr>
          <p:cNvPr id="28" name="Shape 26"/>
          <p:cNvSpPr/>
          <p:nvPr/>
        </p:nvSpPr>
        <p:spPr>
          <a:xfrm>
            <a:off x="388620" y="4114800"/>
            <a:ext cx="8229600" cy="868680"/>
          </a:xfrm>
          <a:prstGeom prst="rect">
            <a:avLst/>
          </a:prstGeom>
          <a:solidFill>
            <a:srgbClr val="FFFACD"/>
          </a:solidFill>
          <a:ln w="12700">
            <a:solidFill>
              <a:srgbClr val="6B4C9A"/>
            </a:solidFill>
            <a:prstDash val="solid"/>
          </a:ln>
        </p:spPr>
      </p:sp>
      <p:sp>
        <p:nvSpPr>
          <p:cNvPr id="29" name="Text 27"/>
          <p:cNvSpPr/>
          <p:nvPr/>
        </p:nvSpPr>
        <p:spPr>
          <a:xfrm>
            <a:off x="640080" y="4206240"/>
            <a:ext cx="7863840" cy="685800"/>
          </a:xfrm>
          <a:prstGeom prst="rect">
            <a:avLst/>
          </a:prstGeom>
          <a:noFill/>
          <a:ln/>
        </p:spPr>
        <p:txBody>
          <a:bodyPr wrap="square" rtlCol="0" anchor="ctr"/>
          <a:lstStyle/>
          <a:p>
            <a:pPr marL="0" indent="0">
              <a:buNone/>
            </a:pPr>
            <a:r>
              <a:rPr lang="en-US" sz="1100" b="1" dirty="0">
                <a:solidFill>
                  <a:srgbClr val="2D1B4E"/>
                </a:solidFill>
                <a:latin typeface="Calibri" pitchFamily="34" charset="0"/>
                <a:ea typeface="Calibri" pitchFamily="34" charset="-122"/>
                <a:cs typeface="Calibri" pitchFamily="34" charset="-120"/>
              </a:rPr>
              <a:t>GridSense AI transforms raw grid data into prioritized, actionable intelligence  helping operators shift from reactive outage response to proactive asset management. Quantified 27% curtailment reduction enables utilities to maximize clean energy utilization.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E8DFF5"/>
          </a:solidFill>
          <a:ln/>
        </p:spPr>
      </p:sp>
      <p:sp>
        <p:nvSpPr>
          <p:cNvPr id="3" name="Text 1"/>
          <p:cNvSpPr/>
          <p:nvPr/>
        </p:nvSpPr>
        <p:spPr>
          <a:xfrm>
            <a:off x="182880" y="365760"/>
            <a:ext cx="2834640" cy="457200"/>
          </a:xfrm>
          <a:prstGeom prst="rect">
            <a:avLst/>
          </a:prstGeom>
          <a:noFill/>
          <a:ln/>
        </p:spPr>
        <p:txBody>
          <a:bodyPr wrap="square" rtlCol="0" anchor="ctr"/>
          <a:lstStyle/>
          <a:p>
            <a:pPr marL="0" indent="0">
              <a:buNone/>
            </a:pPr>
            <a:r>
              <a:rPr lang="en-US" sz="2800" b="1" dirty="0">
                <a:solidFill>
                  <a:srgbClr val="2D1B4E"/>
                </a:solidFill>
                <a:latin typeface="Calibri" pitchFamily="34" charset="0"/>
                <a:ea typeface="Calibri" pitchFamily="34" charset="-122"/>
                <a:cs typeface="Calibri" pitchFamily="34" charset="-120"/>
              </a:rPr>
              <a:t>Team</a:t>
            </a:r>
            <a:endParaRPr lang="en-US" sz="2800" dirty="0"/>
          </a:p>
        </p:txBody>
      </p:sp>
      <p:sp>
        <p:nvSpPr>
          <p:cNvPr id="4" name="Shape 2"/>
          <p:cNvSpPr/>
          <p:nvPr/>
        </p:nvSpPr>
        <p:spPr>
          <a:xfrm>
            <a:off x="182880" y="1097280"/>
            <a:ext cx="2834640" cy="822960"/>
          </a:xfrm>
          <a:prstGeom prst="rect">
            <a:avLst/>
          </a:prstGeom>
          <a:solidFill>
            <a:srgbClr val="FFFFFF"/>
          </a:solidFill>
          <a:ln w="12700">
            <a:solidFill>
              <a:srgbClr val="6B4C9A"/>
            </a:solidFill>
            <a:prstDash val="solid"/>
          </a:ln>
        </p:spPr>
      </p:sp>
      <p:sp>
        <p:nvSpPr>
          <p:cNvPr id="5" name="Text 3"/>
          <p:cNvSpPr/>
          <p:nvPr/>
        </p:nvSpPr>
        <p:spPr>
          <a:xfrm>
            <a:off x="320040" y="1272423"/>
            <a:ext cx="2560320" cy="201168"/>
          </a:xfrm>
          <a:prstGeom prst="rect">
            <a:avLst/>
          </a:prstGeom>
          <a:noFill/>
          <a:ln/>
        </p:spPr>
        <p:txBody>
          <a:bodyPr wrap="square" rtlCol="0" anchor="ctr"/>
          <a:lstStyle/>
          <a:p>
            <a:r>
              <a:rPr lang="en-US" sz="1400" b="1" dirty="0">
                <a:solidFill>
                  <a:srgbClr val="2D1B4E"/>
                </a:solidFill>
                <a:latin typeface="Calibri" pitchFamily="34" charset="0"/>
                <a:ea typeface="Calibri" pitchFamily="34" charset="-122"/>
                <a:cs typeface="Calibri" pitchFamily="34" charset="-120"/>
              </a:rPr>
              <a:t>Heer Pathak</a:t>
            </a:r>
            <a:endParaRPr lang="en-US" sz="1400" dirty="0"/>
          </a:p>
        </p:txBody>
      </p:sp>
      <p:sp>
        <p:nvSpPr>
          <p:cNvPr id="6" name="Text 4"/>
          <p:cNvSpPr/>
          <p:nvPr/>
        </p:nvSpPr>
        <p:spPr>
          <a:xfrm>
            <a:off x="320040" y="1577340"/>
            <a:ext cx="2560320" cy="164592"/>
          </a:xfrm>
          <a:prstGeom prst="rect">
            <a:avLst/>
          </a:prstGeom>
          <a:noFill/>
          <a:ln/>
        </p:spPr>
        <p:txBody>
          <a:bodyPr wrap="square" rtlCol="0" anchor="ctr"/>
          <a:lstStyle/>
          <a:p>
            <a:r>
              <a:rPr lang="en-US" sz="900" b="1" dirty="0">
                <a:solidFill>
                  <a:srgbClr val="6B4C9A"/>
                </a:solidFill>
                <a:latin typeface="Calibri" pitchFamily="34" charset="0"/>
                <a:ea typeface="Calibri" pitchFamily="34" charset="-122"/>
                <a:cs typeface="Calibri" pitchFamily="34" charset="-120"/>
              </a:rPr>
              <a:t>Data Science &amp; Optimization</a:t>
            </a:r>
            <a:endParaRPr lang="en-US" sz="900" dirty="0"/>
          </a:p>
        </p:txBody>
      </p:sp>
      <p:sp>
        <p:nvSpPr>
          <p:cNvPr id="7" name="Text 5"/>
          <p:cNvSpPr/>
          <p:nvPr/>
        </p:nvSpPr>
        <p:spPr>
          <a:xfrm>
            <a:off x="320040" y="1536192"/>
            <a:ext cx="2560320" cy="347472"/>
          </a:xfrm>
          <a:prstGeom prst="rect">
            <a:avLst/>
          </a:prstGeom>
          <a:noFill/>
          <a:ln/>
        </p:spPr>
        <p:txBody>
          <a:bodyPr wrap="square" rtlCol="0" anchor="ctr"/>
          <a:lstStyle/>
          <a:p>
            <a:pPr marL="0" indent="0">
              <a:buNone/>
            </a:pPr>
            <a:endParaRPr lang="en-US" sz="700" dirty="0"/>
          </a:p>
        </p:txBody>
      </p:sp>
      <p:sp>
        <p:nvSpPr>
          <p:cNvPr id="8" name="Shape 6"/>
          <p:cNvSpPr/>
          <p:nvPr/>
        </p:nvSpPr>
        <p:spPr>
          <a:xfrm>
            <a:off x="182880" y="2011680"/>
            <a:ext cx="2834640" cy="822960"/>
          </a:xfrm>
          <a:prstGeom prst="rect">
            <a:avLst/>
          </a:prstGeom>
          <a:solidFill>
            <a:srgbClr val="FFFFFF"/>
          </a:solidFill>
          <a:ln w="12700">
            <a:solidFill>
              <a:srgbClr val="6B4C9A"/>
            </a:solidFill>
            <a:prstDash val="solid"/>
          </a:ln>
        </p:spPr>
        <p:txBody>
          <a:bodyPr/>
          <a:lstStyle/>
          <a:p>
            <a:endParaRPr lang="en-IN" dirty="0"/>
          </a:p>
        </p:txBody>
      </p:sp>
      <p:sp>
        <p:nvSpPr>
          <p:cNvPr id="9" name="Text 7"/>
          <p:cNvSpPr/>
          <p:nvPr/>
        </p:nvSpPr>
        <p:spPr>
          <a:xfrm>
            <a:off x="320040" y="2296551"/>
            <a:ext cx="2560320" cy="201168"/>
          </a:xfrm>
          <a:prstGeom prst="rect">
            <a:avLst/>
          </a:prstGeom>
          <a:noFill/>
          <a:ln/>
        </p:spPr>
        <p:txBody>
          <a:bodyPr wrap="square" rtlCol="0" anchor="ctr"/>
          <a:lstStyle/>
          <a:p>
            <a:r>
              <a:rPr lang="en-US" sz="1400" b="1" dirty="0">
                <a:solidFill>
                  <a:srgbClr val="2D1B4E"/>
                </a:solidFill>
                <a:latin typeface="Calibri" pitchFamily="34" charset="0"/>
                <a:ea typeface="Calibri" pitchFamily="34" charset="-122"/>
                <a:cs typeface="Calibri" pitchFamily="34" charset="-120"/>
              </a:rPr>
              <a:t>Manasvee Viroja</a:t>
            </a:r>
            <a:endParaRPr lang="en-US" sz="1400" dirty="0"/>
          </a:p>
          <a:p>
            <a:endParaRPr lang="en-US" sz="1400" dirty="0"/>
          </a:p>
        </p:txBody>
      </p:sp>
      <p:sp>
        <p:nvSpPr>
          <p:cNvPr id="10" name="Text 8"/>
          <p:cNvSpPr/>
          <p:nvPr/>
        </p:nvSpPr>
        <p:spPr>
          <a:xfrm>
            <a:off x="320040" y="2491740"/>
            <a:ext cx="2560320" cy="164592"/>
          </a:xfrm>
          <a:prstGeom prst="rect">
            <a:avLst/>
          </a:prstGeom>
          <a:noFill/>
          <a:ln/>
        </p:spPr>
        <p:txBody>
          <a:bodyPr wrap="square" rtlCol="0" anchor="ctr"/>
          <a:lstStyle/>
          <a:p>
            <a:r>
              <a:rPr lang="en-US" sz="900" b="1" dirty="0">
                <a:solidFill>
                  <a:srgbClr val="6B4C9A"/>
                </a:solidFill>
                <a:latin typeface="Calibri" pitchFamily="34" charset="0"/>
                <a:ea typeface="Calibri" pitchFamily="34" charset="-122"/>
                <a:cs typeface="Calibri" pitchFamily="34" charset="-120"/>
              </a:rPr>
              <a:t>Backend &amp; Agent Orchestration</a:t>
            </a:r>
            <a:endParaRPr lang="en-US" sz="900" dirty="0"/>
          </a:p>
        </p:txBody>
      </p:sp>
      <p:sp>
        <p:nvSpPr>
          <p:cNvPr id="11" name="Text 9"/>
          <p:cNvSpPr/>
          <p:nvPr/>
        </p:nvSpPr>
        <p:spPr>
          <a:xfrm>
            <a:off x="320040" y="2450592"/>
            <a:ext cx="2560320" cy="347472"/>
          </a:xfrm>
          <a:prstGeom prst="rect">
            <a:avLst/>
          </a:prstGeom>
          <a:noFill/>
          <a:ln/>
        </p:spPr>
        <p:txBody>
          <a:bodyPr wrap="square" rtlCol="0" anchor="ctr"/>
          <a:lstStyle/>
          <a:p>
            <a:pPr marL="0" indent="0">
              <a:buNone/>
            </a:pPr>
            <a:endParaRPr lang="en-US" sz="700" dirty="0"/>
          </a:p>
        </p:txBody>
      </p:sp>
      <p:sp>
        <p:nvSpPr>
          <p:cNvPr id="12" name="Shape 10"/>
          <p:cNvSpPr/>
          <p:nvPr/>
        </p:nvSpPr>
        <p:spPr>
          <a:xfrm>
            <a:off x="182880" y="2926080"/>
            <a:ext cx="2834640" cy="822960"/>
          </a:xfrm>
          <a:prstGeom prst="rect">
            <a:avLst/>
          </a:prstGeom>
          <a:solidFill>
            <a:srgbClr val="FFFFFF"/>
          </a:solidFill>
          <a:ln w="12700">
            <a:solidFill>
              <a:srgbClr val="6B4C9A"/>
            </a:solidFill>
            <a:prstDash val="solid"/>
          </a:ln>
        </p:spPr>
      </p:sp>
      <p:sp>
        <p:nvSpPr>
          <p:cNvPr id="13" name="Text 11"/>
          <p:cNvSpPr/>
          <p:nvPr/>
        </p:nvSpPr>
        <p:spPr>
          <a:xfrm>
            <a:off x="320040" y="3036160"/>
            <a:ext cx="2560320" cy="201168"/>
          </a:xfrm>
          <a:prstGeom prst="rect">
            <a:avLst/>
          </a:prstGeom>
          <a:noFill/>
          <a:ln/>
        </p:spPr>
        <p:txBody>
          <a:bodyPr wrap="square" rtlCol="0" anchor="ctr"/>
          <a:lstStyle/>
          <a:p>
            <a:r>
              <a:rPr lang="en-US" sz="1400" b="1" dirty="0">
                <a:solidFill>
                  <a:srgbClr val="2D1B4E"/>
                </a:solidFill>
                <a:latin typeface="Calibri" pitchFamily="34" charset="0"/>
                <a:ea typeface="Calibri" pitchFamily="34" charset="-122"/>
                <a:cs typeface="Calibri" pitchFamily="34" charset="-120"/>
              </a:rPr>
              <a:t>Priyal </a:t>
            </a:r>
            <a:r>
              <a:rPr lang="en-US" sz="1400" b="1" dirty="0" err="1">
                <a:solidFill>
                  <a:srgbClr val="2D1B4E"/>
                </a:solidFill>
                <a:latin typeface="Calibri" pitchFamily="34" charset="0"/>
                <a:ea typeface="Calibri" pitchFamily="34" charset="-122"/>
                <a:cs typeface="Calibri" pitchFamily="34" charset="-120"/>
              </a:rPr>
              <a:t>Kalariya</a:t>
            </a:r>
            <a:endParaRPr lang="en-US" sz="1400" dirty="0"/>
          </a:p>
        </p:txBody>
      </p:sp>
      <p:sp>
        <p:nvSpPr>
          <p:cNvPr id="14" name="Text 12"/>
          <p:cNvSpPr/>
          <p:nvPr/>
        </p:nvSpPr>
        <p:spPr>
          <a:xfrm>
            <a:off x="320040" y="3342484"/>
            <a:ext cx="2560320" cy="164592"/>
          </a:xfrm>
          <a:prstGeom prst="rect">
            <a:avLst/>
          </a:prstGeom>
          <a:noFill/>
          <a:ln/>
        </p:spPr>
        <p:txBody>
          <a:bodyPr wrap="square" rtlCol="0" anchor="ctr"/>
          <a:lstStyle/>
          <a:p>
            <a:r>
              <a:rPr lang="en-US" sz="900" b="1" dirty="0">
                <a:solidFill>
                  <a:srgbClr val="6B4C9A"/>
                </a:solidFill>
                <a:latin typeface="Calibri" pitchFamily="34" charset="0"/>
                <a:ea typeface="Calibri" pitchFamily="34" charset="-122"/>
                <a:cs typeface="Calibri" pitchFamily="34" charset="-120"/>
              </a:rPr>
              <a:t>Frontend &amp; Dashboard</a:t>
            </a:r>
            <a:endParaRPr lang="en-US" sz="900" dirty="0"/>
          </a:p>
        </p:txBody>
      </p:sp>
      <p:sp>
        <p:nvSpPr>
          <p:cNvPr id="15" name="Text 13"/>
          <p:cNvSpPr/>
          <p:nvPr/>
        </p:nvSpPr>
        <p:spPr>
          <a:xfrm>
            <a:off x="320040" y="3364992"/>
            <a:ext cx="2560320" cy="347472"/>
          </a:xfrm>
          <a:prstGeom prst="rect">
            <a:avLst/>
          </a:prstGeom>
          <a:noFill/>
          <a:ln/>
        </p:spPr>
        <p:txBody>
          <a:bodyPr wrap="square" rtlCol="0" anchor="ctr"/>
          <a:lstStyle/>
          <a:p>
            <a:pPr marL="0" indent="0">
              <a:buNone/>
            </a:pPr>
            <a:endParaRPr lang="en-US" sz="700" dirty="0"/>
          </a:p>
        </p:txBody>
      </p:sp>
      <p:sp>
        <p:nvSpPr>
          <p:cNvPr id="16" name="Shape 14"/>
          <p:cNvSpPr/>
          <p:nvPr/>
        </p:nvSpPr>
        <p:spPr>
          <a:xfrm>
            <a:off x="182880" y="3840480"/>
            <a:ext cx="2834640" cy="822960"/>
          </a:xfrm>
          <a:prstGeom prst="rect">
            <a:avLst/>
          </a:prstGeom>
          <a:solidFill>
            <a:srgbClr val="FFFFFF"/>
          </a:solidFill>
          <a:ln w="12700">
            <a:solidFill>
              <a:srgbClr val="6B4C9A"/>
            </a:solidFill>
            <a:prstDash val="solid"/>
          </a:ln>
        </p:spPr>
        <p:txBody>
          <a:bodyPr/>
          <a:lstStyle/>
          <a:p>
            <a:endParaRPr lang="en-IN" dirty="0"/>
          </a:p>
        </p:txBody>
      </p:sp>
      <p:sp>
        <p:nvSpPr>
          <p:cNvPr id="17" name="Text 15"/>
          <p:cNvSpPr/>
          <p:nvPr/>
        </p:nvSpPr>
        <p:spPr>
          <a:xfrm>
            <a:off x="320040" y="3983970"/>
            <a:ext cx="2560320" cy="201168"/>
          </a:xfrm>
          <a:prstGeom prst="rect">
            <a:avLst/>
          </a:prstGeom>
          <a:noFill/>
          <a:ln/>
        </p:spPr>
        <p:txBody>
          <a:bodyPr wrap="square" rtlCol="0" anchor="ctr"/>
          <a:lstStyle/>
          <a:p>
            <a:pPr marL="0" indent="0">
              <a:buNone/>
            </a:pPr>
            <a:r>
              <a:rPr lang="en-US" sz="1400" b="1" dirty="0">
                <a:solidFill>
                  <a:srgbClr val="2D1B4E"/>
                </a:solidFill>
                <a:latin typeface="Calibri" pitchFamily="34" charset="0"/>
                <a:ea typeface="Calibri" pitchFamily="34" charset="-122"/>
                <a:cs typeface="Calibri" pitchFamily="34" charset="-120"/>
              </a:rPr>
              <a:t>Prince Patel</a:t>
            </a:r>
            <a:endParaRPr lang="en-US" sz="1400" dirty="0"/>
          </a:p>
        </p:txBody>
      </p:sp>
      <p:sp>
        <p:nvSpPr>
          <p:cNvPr id="18" name="Text 16"/>
          <p:cNvSpPr/>
          <p:nvPr/>
        </p:nvSpPr>
        <p:spPr>
          <a:xfrm>
            <a:off x="320040" y="4238595"/>
            <a:ext cx="2560320" cy="164592"/>
          </a:xfrm>
          <a:prstGeom prst="rect">
            <a:avLst/>
          </a:prstGeom>
          <a:noFill/>
          <a:ln/>
        </p:spPr>
        <p:txBody>
          <a:bodyPr wrap="square" rtlCol="0" anchor="ctr"/>
          <a:lstStyle/>
          <a:p>
            <a:pPr marL="0" indent="0">
              <a:buNone/>
            </a:pPr>
            <a:r>
              <a:rPr lang="en-US" sz="900" b="1" dirty="0">
                <a:solidFill>
                  <a:srgbClr val="6B4C9A"/>
                </a:solidFill>
                <a:latin typeface="Calibri" pitchFamily="34" charset="0"/>
                <a:ea typeface="Calibri" pitchFamily="34" charset="-122"/>
                <a:cs typeface="Calibri" pitchFamily="34" charset="-120"/>
              </a:rPr>
              <a:t>Evaluation &amp; Documentation</a:t>
            </a:r>
            <a:endParaRPr lang="en-US" sz="900" dirty="0"/>
          </a:p>
        </p:txBody>
      </p:sp>
      <p:sp>
        <p:nvSpPr>
          <p:cNvPr id="19" name="Text 17"/>
          <p:cNvSpPr/>
          <p:nvPr/>
        </p:nvSpPr>
        <p:spPr>
          <a:xfrm>
            <a:off x="320040" y="4279392"/>
            <a:ext cx="2560320" cy="347472"/>
          </a:xfrm>
          <a:prstGeom prst="rect">
            <a:avLst/>
          </a:prstGeom>
          <a:noFill/>
          <a:ln/>
        </p:spPr>
        <p:txBody>
          <a:bodyPr wrap="square" rtlCol="0" anchor="ctr"/>
          <a:lstStyle/>
          <a:p>
            <a:pPr marL="0" indent="0">
              <a:buNone/>
            </a:pPr>
            <a:endParaRPr lang="en-US" sz="700" dirty="0"/>
          </a:p>
        </p:txBody>
      </p:sp>
      <p:sp>
        <p:nvSpPr>
          <p:cNvPr id="20" name="Text 18"/>
          <p:cNvSpPr/>
          <p:nvPr/>
        </p:nvSpPr>
        <p:spPr>
          <a:xfrm>
            <a:off x="3474720" y="365760"/>
            <a:ext cx="5029200" cy="411480"/>
          </a:xfrm>
          <a:prstGeom prst="rect">
            <a:avLst/>
          </a:prstGeom>
          <a:noFill/>
          <a:ln/>
        </p:spPr>
        <p:txBody>
          <a:bodyPr wrap="square" rtlCol="0" anchor="ctr"/>
          <a:lstStyle/>
          <a:p>
            <a:pPr marL="0" indent="0">
              <a:buNone/>
            </a:pPr>
            <a:r>
              <a:rPr lang="en-US" sz="1800" b="1" dirty="0">
                <a:solidFill>
                  <a:srgbClr val="2D1B4E"/>
                </a:solidFill>
                <a:latin typeface="Calibri" pitchFamily="34" charset="0"/>
                <a:ea typeface="Calibri" pitchFamily="34" charset="-122"/>
                <a:cs typeface="Calibri" pitchFamily="34" charset="-120"/>
              </a:rPr>
              <a:t>What Sets GridSense Apart</a:t>
            </a:r>
            <a:endParaRPr lang="en-US" sz="1800" dirty="0"/>
          </a:p>
        </p:txBody>
      </p:sp>
      <p:sp>
        <p:nvSpPr>
          <p:cNvPr id="21" name="Text 19"/>
          <p:cNvSpPr/>
          <p:nvPr/>
        </p:nvSpPr>
        <p:spPr>
          <a:xfrm>
            <a:off x="3474720" y="914400"/>
            <a:ext cx="5029200" cy="41148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 Genuinely agentic (8 agents, parallel branches, typed state)</a:t>
            </a:r>
            <a:endParaRPr lang="en-US" sz="1000" dirty="0"/>
          </a:p>
        </p:txBody>
      </p:sp>
      <p:sp>
        <p:nvSpPr>
          <p:cNvPr id="22" name="Text 20"/>
          <p:cNvSpPr/>
          <p:nvPr/>
        </p:nvSpPr>
        <p:spPr>
          <a:xfrm>
            <a:off x="3474720" y="1353312"/>
            <a:ext cx="5029200" cy="41148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 Separation of concerns (LLM reasons, tools calculate)</a:t>
            </a:r>
            <a:endParaRPr lang="en-US" sz="1000" dirty="0"/>
          </a:p>
        </p:txBody>
      </p:sp>
      <p:sp>
        <p:nvSpPr>
          <p:cNvPr id="23" name="Text 21"/>
          <p:cNvSpPr/>
          <p:nvPr/>
        </p:nvSpPr>
        <p:spPr>
          <a:xfrm>
            <a:off x="3474720" y="1792224"/>
            <a:ext cx="5029200" cy="41148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 Physics-based detection (finds degradation vs neighbors miss)</a:t>
            </a:r>
            <a:endParaRPr lang="en-US" sz="1000" dirty="0"/>
          </a:p>
        </p:txBody>
      </p:sp>
      <p:sp>
        <p:nvSpPr>
          <p:cNvPr id="24" name="Text 22"/>
          <p:cNvSpPr/>
          <p:nvPr/>
        </p:nvSpPr>
        <p:spPr>
          <a:xfrm>
            <a:off x="3474720" y="2231136"/>
            <a:ext cx="5029200" cy="41148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 Enforced grounding (Critic agent, not just prompted)</a:t>
            </a:r>
            <a:endParaRPr lang="en-US" sz="1000" dirty="0"/>
          </a:p>
        </p:txBody>
      </p:sp>
      <p:sp>
        <p:nvSpPr>
          <p:cNvPr id="25" name="Text 23"/>
          <p:cNvSpPr/>
          <p:nvPr/>
        </p:nvSpPr>
        <p:spPr>
          <a:xfrm>
            <a:off x="3474720" y="2670048"/>
            <a:ext cx="5029200" cy="41148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 Attribution over aggregation (why curtailment, not just how much)</a:t>
            </a:r>
            <a:endParaRPr lang="en-US" sz="1000" dirty="0"/>
          </a:p>
        </p:txBody>
      </p:sp>
      <p:sp>
        <p:nvSpPr>
          <p:cNvPr id="26" name="Text 24"/>
          <p:cNvSpPr/>
          <p:nvPr/>
        </p:nvSpPr>
        <p:spPr>
          <a:xfrm>
            <a:off x="3474720" y="3108960"/>
            <a:ext cx="5029200" cy="41148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 Deterministic + reproducible (fully testable)</a:t>
            </a:r>
            <a:endParaRPr lang="en-US" sz="1000" dirty="0"/>
          </a:p>
        </p:txBody>
      </p:sp>
      <p:sp>
        <p:nvSpPr>
          <p:cNvPr id="27" name="Text 25"/>
          <p:cNvSpPr/>
          <p:nvPr/>
        </p:nvSpPr>
        <p:spPr>
          <a:xfrm>
            <a:off x="3474720" y="3547872"/>
            <a:ext cx="5029200" cy="41148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 Runs anywhere (laptop, no cloud, &lt;90s)</a:t>
            </a:r>
            <a:endParaRPr lang="en-US" sz="1000" dirty="0"/>
          </a:p>
        </p:txBody>
      </p:sp>
      <p:sp>
        <p:nvSpPr>
          <p:cNvPr id="28" name="Text 26"/>
          <p:cNvSpPr/>
          <p:nvPr/>
        </p:nvSpPr>
        <p:spPr>
          <a:xfrm>
            <a:off x="3474720" y="4115151"/>
            <a:ext cx="5029200" cy="411480"/>
          </a:xfrm>
          <a:prstGeom prst="rect">
            <a:avLst/>
          </a:prstGeom>
          <a:noFill/>
          <a:ln/>
        </p:spPr>
        <p:txBody>
          <a:bodyPr wrap="square" rtlCol="0" anchor="ctr"/>
          <a:lstStyle/>
          <a:p>
            <a:r>
              <a:rPr lang="en-US" sz="1000" dirty="0">
                <a:solidFill>
                  <a:srgbClr val="2C2C2C"/>
                </a:solidFill>
                <a:latin typeface="Calibri" pitchFamily="34" charset="0"/>
                <a:ea typeface="Calibri" pitchFamily="34" charset="-122"/>
                <a:cs typeface="Calibri" pitchFamily="34" charset="-120"/>
              </a:rPr>
              <a:t>✓ Measurable impact (27% real curtailment reduction) </a:t>
            </a:r>
            <a:endParaRPr lang="en-US" sz="1000" b="1" dirty="0">
              <a:solidFill>
                <a:srgbClr val="6B4C9A"/>
              </a:solidFill>
              <a:latin typeface="Calibri" pitchFamily="34" charset="0"/>
              <a:ea typeface="Calibri" pitchFamily="34" charset="-122"/>
              <a:cs typeface="Calibri" pitchFamily="34" charset="-120"/>
            </a:endParaRPr>
          </a:p>
          <a:p>
            <a:endParaRPr lang="en-US" sz="1000" dirty="0"/>
          </a:p>
          <a:p>
            <a:pPr marL="0" indent="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790</Words>
  <Application>Microsoft Office PowerPoint</Application>
  <PresentationFormat>On-screen Show (16:9)</PresentationFormat>
  <Paragraphs>132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Manasvee Viroja</cp:lastModifiedBy>
  <cp:revision>3</cp:revision>
  <dcterms:created xsi:type="dcterms:W3CDTF">2026-09-15T15:14:50Z</dcterms:created>
  <dcterms:modified xsi:type="dcterms:W3CDTF">2026-09-15T17:04:57Z</dcterms:modified>
</cp:coreProperties>
</file>